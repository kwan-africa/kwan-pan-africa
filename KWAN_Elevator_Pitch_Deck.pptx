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INVESTOR &amp; PARTNER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949440" cy="1554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300" b="1">
                <a:solidFill>
                  <a:srgbClr val="F3EFE6"/>
                </a:solidFill>
                <a:latin typeface="Aptos Display"/>
              </a:rPr>
              <a:t>THE TRUSTED
CULTURAL TRAVEL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3063240"/>
            <a:ext cx="594360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2A93B"/>
                </a:solidFill>
                <a:latin typeface="Aptos Display"/>
              </a:rPr>
              <a:t>One conversation. One trusted local host.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5943600" cy="8686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F3EFE6"/>
                </a:solidFill>
                <a:latin typeface="Aptos"/>
              </a:rPr>
              <a:t>Kwan helps travelers discover meaningful Ghanaian experiences and helps grassroots hosts earn safely through digital payments.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325880"/>
            <a:ext cx="3337560" cy="356616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91640"/>
            <a:ext cx="25603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FA0C4"/>
                </a:solidFill>
                <a:latin typeface="Aptos"/>
              </a:rPr>
              <a:t>THE PITCH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48840"/>
            <a:ext cx="2560320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3EFE6"/>
                </a:solidFill>
                <a:latin typeface="Aptos Display"/>
              </a:rPr>
              <a:t>Travelers want
living culture.
Hosts need
trusted rails.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160520"/>
            <a:ext cx="260604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9873"/>
                </a:solidFill>
                <a:latin typeface="Aptos"/>
              </a:rPr>
              <a:t>Discovery → Trust → Settlement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989320"/>
            <a:ext cx="2743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kwanai.me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THE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The best cultural experiences are hard to find — and hard to pay for.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The traveler and the host are both underserved by today’s booking stack.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429000" cy="256032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14884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3134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TRAVELER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15768"/>
            <a:ext cx="3063240" cy="18287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International cards do not translate into trusted local access. Travelers face generic listings, cash anxiety, and no clear recourse.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148840"/>
            <a:ext cx="3429000" cy="256032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2148840"/>
            <a:ext cx="3429000" cy="45720"/>
          </a:xfrm>
          <a:prstGeom prst="rect">
            <a:avLst/>
          </a:prstGeom>
          <a:solidFill>
            <a:srgbClr val="159873"/>
          </a:solidFill>
          <a:ln>
            <a:solidFill>
              <a:srgbClr val="159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3134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9873"/>
                </a:solidFill>
                <a:latin typeface="Aptos Display"/>
              </a:rPr>
              <a:t>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715768"/>
            <a:ext cx="3063240" cy="18287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Generational guides, artisans, and cultural elders often operate on Mobile Money, outside the bank-account requirements of global platforms.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148840"/>
            <a:ext cx="3429000" cy="256032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14884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3134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THE GAP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715768"/>
            <a:ext cx="3063240" cy="182879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The market has demand and extraordinary supply — but discovery, trust, and settlement are disconnected.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532120"/>
            <a:ext cx="7315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3EFE6"/>
                </a:solidFill>
                <a:latin typeface="Aptos Display"/>
              </a:rPr>
              <a:t>Kwan connects those three moments in one focused 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Kwan makes a local connection feel as simple as a conversation.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No list of generic itineraries. One considered recommendation from a verified collection.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2331720" cy="23774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502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2A93B"/>
                </a:solidFill>
                <a:latin typeface="Aptos Display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5292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3EFE6"/>
                </a:solidFill>
                <a:latin typeface="Aptos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10128"/>
            <a:ext cx="19202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Tell Kwan how you want to experience Ghana.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2057400"/>
            <a:ext cx="2331720" cy="23774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2267712"/>
            <a:ext cx="502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2A93B"/>
                </a:solidFill>
                <a:latin typeface="Aptos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85292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3EFE6"/>
                </a:solidFill>
                <a:latin typeface="Aptos"/>
              </a:rPr>
              <a:t>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310128"/>
            <a:ext cx="19202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Receive one local host selected for your interests and corridor.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2057400"/>
            <a:ext cx="2331720" cy="23774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59" y="2267712"/>
            <a:ext cx="502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2A93B"/>
                </a:solidFill>
                <a:latin typeface="Aptos Display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59" y="285292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3EFE6"/>
                </a:solidFill>
                <a:latin typeface="Aptos"/>
              </a:rPr>
              <a:t>UNDERSTAND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3310128"/>
            <a:ext cx="19202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See the guide, meeting point, cultural context, and transparent price.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3999" y="2057400"/>
            <a:ext cx="2331720" cy="23774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79" y="2267712"/>
            <a:ext cx="502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2A93B"/>
                </a:solidFill>
                <a:latin typeface="Aptos Display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79" y="2852928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3EFE6"/>
                </a:solidFill>
                <a:latin typeface="Aptos"/>
              </a:rPr>
              <a:t>SETTLE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3310128"/>
            <a:ext cx="19202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Pay by card; release the host payout after the experience.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82296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59873"/>
                </a:solidFill>
                <a:latin typeface="Aptos Display"/>
              </a:rPr>
              <a:t>The product promise: connection succeeds, not just payment.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A calm, conversational interface for high-trust travel.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The live experience keeps the traveler oriented at every step.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5303520" cy="301752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011680"/>
            <a:ext cx="530352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76272"/>
            <a:ext cx="4937759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THE 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4937759" cy="2286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Kwan explains why a host was matched, keeps the request in context, and offers one clear next action: view the guide details.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011680"/>
            <a:ext cx="5212080" cy="301752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2011680"/>
            <a:ext cx="5212080" cy="45720"/>
          </a:xfrm>
          <a:prstGeom prst="rect">
            <a:avLst/>
          </a:prstGeom>
          <a:solidFill>
            <a:srgbClr val="159873"/>
          </a:solidFill>
          <a:ln>
            <a:solidFill>
              <a:srgbClr val="159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176272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9873"/>
                </a:solidFill>
                <a:latin typeface="Aptos Display"/>
              </a:rPr>
              <a:t>THE GUIDE TAB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578608"/>
            <a:ext cx="4846320" cy="2286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Identity context, bio, languages, meeting point, itinerary, what to bring, etiquette, place facts, pricing, and the escrow promise.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486400"/>
            <a:ext cx="8229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3EFE6"/>
                </a:solidFill>
                <a:latin typeface="Aptos Display"/>
              </a:rPr>
              <a:t>Built for trust: fewer choices, better context, visible reasons.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CULTURAL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Kwan is not a booking widget. It is a cultural correspondent.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The product creates desire before it asks for commitment.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LIVING CORRIDOR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3063240" cy="2240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Rotating, curated stories about Jamestown, Cape Coast, Aburi, and the people who make each place meaningful.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3429000" cy="45720"/>
          </a:xfrm>
          <a:prstGeom prst="rect">
            <a:avLst/>
          </a:prstGeom>
          <a:solidFill>
            <a:srgbClr val="159873"/>
          </a:solidFill>
          <a:ln>
            <a:solidFill>
              <a:srgbClr val="159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9873"/>
                </a:solidFill>
                <a:latin typeface="Aptos Display"/>
              </a:rPr>
              <a:t>SANKOFA PLAN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32888"/>
            <a:ext cx="3063240" cy="2240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A dedicated week planner with curated seasonal packages, major festivals, smaller local encounters, and verified guide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29000" cy="297180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BEFORE YOU 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32888"/>
            <a:ext cx="3063240" cy="2240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A cultural briefing turns the wait between booking and arrival into preparation, respect, and anticipation.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TRUST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The operating system is simple: verified supply, transparent terms, protected settlement.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Kwan is deliberately opinionated about what it will and will not invent.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463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A93B"/>
                </a:solidFill>
                <a:latin typeface="Aptos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176272"/>
            <a:ext cx="34747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3EFE6"/>
                </a:solidFill>
                <a:latin typeface="Aptos"/>
              </a:rPr>
              <a:t>Verified host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41448"/>
            <a:ext cx="68580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No fabricated guide or itinerary matches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17520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00400"/>
            <a:ext cx="1463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A93B"/>
                </a:solidFill>
                <a:latin typeface="Aptos"/>
              </a:rP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36391"/>
            <a:ext cx="34747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3EFE6"/>
                </a:solidFill>
                <a:latin typeface="Aptos"/>
              </a:rPr>
              <a:t>Identity + wallet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401568"/>
            <a:ext cx="68580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Clear meeting details and human context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1828800" cy="658368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60520"/>
            <a:ext cx="146304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2A93B"/>
                </a:solidFill>
                <a:latin typeface="Aptos"/>
              </a:rPr>
              <a:t>SETTLEMENT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096511"/>
            <a:ext cx="347472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3EFE6"/>
                </a:solidFill>
                <a:latin typeface="Aptos"/>
              </a:rPr>
              <a:t>Card → escrow → Mobile Money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361688"/>
            <a:ext cx="68580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0C4"/>
                </a:solidFill>
                <a:latin typeface="Aptos"/>
              </a:rPr>
              <a:t>PIN-based release after the experience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86400"/>
            <a:ext cx="960120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59873"/>
                </a:solidFill>
                <a:latin typeface="Aptos Display"/>
              </a:rPr>
              <a:t>Software can be copied. Local trust, verified supply, and payment behavior compound.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BEACHHEAD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Start where cultural density and traveler intent already meet.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Accra and Cape Coast give Kwan a focused Ghanaian beachhead before regional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3429000" cy="28346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GA-MASHIE &amp; JAMESTOWN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32888"/>
            <a:ext cx="3063240" cy="2103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Boxing guilds, lighthouse stories, artisans, food makers, and living neighborhood heritage.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29000" cy="28346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65960"/>
            <a:ext cx="3429000" cy="45720"/>
          </a:xfrm>
          <a:prstGeom prst="rect">
            <a:avLst/>
          </a:prstGeom>
          <a:solidFill>
            <a:srgbClr val="159873"/>
          </a:solidFill>
          <a:ln>
            <a:solidFill>
              <a:srgbClr val="159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9873"/>
                </a:solidFill>
                <a:latin typeface="Aptos Display"/>
              </a:rPr>
              <a:t>CAPE COAST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32888"/>
            <a:ext cx="3063240" cy="2103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Ancestral remembrance, castle history, Fante heritage, and a globally resonant pilgrimage corridor.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65960"/>
            <a:ext cx="3429000" cy="28346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6596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13055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ABURI 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532888"/>
            <a:ext cx="3063240" cy="21031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Botanical gardens, cocoa heritage, woodcraft, and slower highland experiences.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86400"/>
            <a:ext cx="73152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3EFE6"/>
                </a:solidFill>
                <a:latin typeface="Aptos Display"/>
              </a:rPr>
              <a:t>Density first. Trust first. Then the next corridor.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TRANSPARENT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A fair transaction can be a viable marketplace.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A simple $50 experience keeps the incentives visible.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5074920" cy="3063240"/>
          </a:xfrm>
          <a:prstGeom prst="roundRect">
            <a:avLst>
              <a:gd name="adj" fmla="val 12000"/>
            </a:avLst>
          </a:prstGeom>
          <a:solidFill>
            <a:srgbClr val="F3EFE6"/>
          </a:solidFill>
          <a:ln>
            <a:solidFill>
              <a:srgbClr val="F3E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94560"/>
            <a:ext cx="420624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6213E"/>
                </a:solidFill>
                <a:latin typeface="Aptos"/>
              </a:rPr>
              <a:t>SAMPLE BOOKING · $50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347472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11D1A"/>
                </a:solidFill>
                <a:latin typeface="Aptos"/>
              </a:rPr>
              <a:t>Traveler pays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97480"/>
            <a:ext cx="9144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11D1A"/>
                </a:solidFill>
                <a:latin typeface="Aptos"/>
              </a:rPr>
              <a:t>$50.00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172968"/>
            <a:ext cx="347472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11D1A"/>
                </a:solidFill>
                <a:latin typeface="Aptos"/>
              </a:rPr>
              <a:t>Host receives via Mobile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172968"/>
            <a:ext cx="9144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59873"/>
                </a:solidFill>
                <a:latin typeface="Aptos"/>
              </a:rPr>
              <a:t>$45.00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648456"/>
            <a:ext cx="347472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11D1A"/>
                </a:solidFill>
                <a:latin typeface="Aptos"/>
              </a:rPr>
              <a:t>Kwan platform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48456"/>
            <a:ext cx="9144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16213E"/>
                </a:solidFill>
                <a:latin typeface="Aptos"/>
              </a:rPr>
              <a:t>$5.00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123944"/>
            <a:ext cx="347472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11D1A"/>
                </a:solidFill>
                <a:latin typeface="Aptos"/>
              </a:rPr>
              <a:t>Tourism levy shown upfront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23944"/>
            <a:ext cx="914400" cy="21945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1">
                <a:solidFill>
                  <a:srgbClr val="211D1A"/>
                </a:solidFill>
                <a:latin typeface="Aptos"/>
              </a:rPr>
              <a:t>$0.50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920240"/>
            <a:ext cx="5212080" cy="306324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920240"/>
            <a:ext cx="521208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084832"/>
            <a:ext cx="48463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BUSINESS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487168"/>
            <a:ext cx="4846320" cy="2331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10% platform fee on completed experiences. Phase two adds B2B partner distribution and curated operator supply — without changing the trust rail.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THE NEXT 90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F3EFE6"/>
                </a:solidFill>
                <a:latin typeface="Aptos Display"/>
              </a:rPr>
              <a:t>Prove the trust loop, then scale the corridor.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81328"/>
            <a:ext cx="103327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A0C4"/>
                </a:solidFill>
                <a:latin typeface="Aptos"/>
              </a:rPr>
              <a:t>The next milestone is repeatable behavior — not a bigger feature list.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92024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1 · 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3063240" cy="2194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Run real transactions with a small set of verified hosts and travelers. Measure completion, trust, and disputes.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429000" cy="45720"/>
          </a:xfrm>
          <a:prstGeom prst="rect">
            <a:avLst/>
          </a:prstGeom>
          <a:solidFill>
            <a:srgbClr val="159873"/>
          </a:solidFill>
          <a:ln>
            <a:solidFill>
              <a:srgbClr val="159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59873"/>
                </a:solidFill>
                <a:latin typeface="Aptos Display"/>
              </a:rPr>
              <a:t>2 ·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87168"/>
            <a:ext cx="3063240" cy="2194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Add cultural institutions, hostels, and travel operators that already hold traveler attention.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920240"/>
            <a:ext cx="3429000" cy="292608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920240"/>
            <a:ext cx="3429000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84832"/>
            <a:ext cx="30632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2A93B"/>
                </a:solidFill>
                <a:latin typeface="Aptos Display"/>
              </a:rPr>
              <a:t>3 · EXPAND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487168"/>
            <a:ext cx="3063240" cy="21945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F3EFE6"/>
                </a:solidFill>
                <a:latin typeface="Aptos"/>
              </a:rPr>
              <a:t>Replicate the operating model across Ghanaian corridors, then into connected African cities.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486400"/>
            <a:ext cx="10332720" cy="34747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3EFE6"/>
                </a:solidFill>
                <a:latin typeface="Aptos Display"/>
              </a:rPr>
              <a:t>ASK: introductions to host communities, cultural institutions, and early travel partners.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8FA0C4"/>
                </a:solidFill>
                <a:latin typeface="Aptos"/>
              </a:rPr>
              <a:t>KWAN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65176"/>
            <a:ext cx="50292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FA0C4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56032"/>
            <a:ext cx="50292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F2A93B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7680960" cy="1417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3EFE6"/>
                </a:solidFill>
                <a:latin typeface="Aptos Display"/>
              </a:rPr>
              <a:t>MEANINGFUL TRAVEL
NEEDS A TRUSTED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154680"/>
            <a:ext cx="685800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F3EFE6"/>
                </a:solidFill>
                <a:latin typeface="Aptos"/>
              </a:rPr>
              <a:t>Kwan connects the traveler, the local host, and the payment rail — so cultural exchange can grow without losing its human center.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480560"/>
            <a:ext cx="71323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2A93B"/>
                </a:solidFill>
                <a:latin typeface="Aptos Display"/>
              </a:rPr>
              <a:t>Describe a day. Meet a person. Travel with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897880"/>
            <a:ext cx="45720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8FA0C4"/>
                </a:solidFill>
                <a:latin typeface="Aptos"/>
              </a:rPr>
              <a:t>kwanai.me  ·  hello@kwan.ai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17320"/>
            <a:ext cx="2423160" cy="3429000"/>
          </a:xfrm>
          <a:prstGeom prst="roundRect">
            <a:avLst>
              <a:gd name="adj" fmla="val 12000"/>
            </a:avLst>
          </a:prstGeom>
          <a:solidFill>
            <a:srgbClr val="1E2C52"/>
          </a:solidFill>
          <a:ln>
            <a:solidFill>
              <a:srgbClr val="1E2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965960"/>
            <a:ext cx="1645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2A93B"/>
                </a:solidFill>
                <a:latin typeface="Aptos Display"/>
              </a:rPr>
              <a:t>KWAN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697480"/>
            <a:ext cx="16459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F3EFE6"/>
                </a:solidFill>
                <a:latin typeface="Aptos"/>
              </a:rPr>
              <a:t>The Way
The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