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(Slide 1 - 30 seconds):</a:t>
            </a:r>
          </a:p>
          <a:p/>
          <a:p>
            <a:r>
              <a:t>"Good morning, judges, mentors, and summit leaders. My name is Caleb Botchway, founder and lead architect of Kwan.</a:t>
            </a:r>
          </a:p>
          <a:p/>
          <a:p>
            <a:r>
              <a:t>In Ghana, 'Kwan' is the Akan word for 'the path' or 'the way'. Kwan is Africa's conversational marketplace for grassroots cultural travel.</a:t>
            </a:r>
          </a:p>
          <a:p/>
          <a:p>
            <a:r>
              <a:t>Our promise is simple: Tell Kwan what trip you want. One conversation. One payment. Everyone booked.</a:t>
            </a:r>
          </a:p>
          <a:p/>
          <a:p>
            <a:r>
              <a:t>We bridge the African diaspora to living culture—connecting international travelers directly to verified local elders, artisans, and community guides who don't exist on global booking apps, while bridging international credit cards into instant local Mobile Money.</a:t>
            </a:r>
          </a:p>
          <a:p/>
          <a:p>
            <a:r>
              <a:t>As a Top 5 Finalist at PAAIS 2026, we are thrilled to present the path forward for African cultural travel. Let's look at why this matters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(Slide 2 - 40 seconds):</a:t>
            </a:r>
          </a:p>
          <a:p/>
          <a:p>
            <a:r>
              <a:t>"Judges, consider the reality of visiting Accra today.</a:t>
            </a:r>
          </a:p>
          <a:p/>
          <a:p>
            <a:r>
              <a:t>On one side, you have diaspora travelers arriving with Visa cards and Apple Pay who desperately want authentic street culture—visiting an open-air boxing gym in Jamestown or navigating Makola's textile market with a master cloth merchant. But global platforms don't list these experiences. Travelers are forced to withdraw physical cash, walk past broken street ATMs, and take safety risks.</a:t>
            </a:r>
          </a:p>
          <a:p/>
          <a:p>
            <a:r>
              <a:t>On the other side, you have our grassroots cultural hosts. According to the Ghana Statistical Service, 92.3% of businesses in Ghana operate informally. They do not have commercial bank accounts or tax IDs. They run on MTN Mobile Money. Booking.com and Airbnb cannot pay them without breaking their own banking rules.</a:t>
            </a:r>
          </a:p>
          <a:p/>
          <a:p>
            <a:r>
              <a:t>Because of this financial divide, unregulated middlemen step in, taking 60% of the money and leaving local artisans with pennies. Kwan eliminates this divide with card-to-MoMo escrow."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(Slide 3 - 35 seconds):</a:t>
            </a:r>
          </a:p>
          <a:p/>
          <a:p>
            <a:r>
              <a:t>"Judges, our execution is disciplined. We do not attempt to cover all of Ghana on day one.</a:t>
            </a:r>
          </a:p>
          <a:p/>
          <a:p>
            <a:r>
              <a:t>Based on official Ghana Tourism Authority data, we are piloting across Accra's three highest-traffic cultural corridors:</a:t>
            </a:r>
          </a:p>
          <a:p/>
          <a:p>
            <a:r>
              <a:t>First, the Kwame Nkrumah Memorial Park corridor in downtown Accra—which just recorded 1.38 million visitors in 2025 as the country's number one attraction, connecting directly to the Arts Centre.</a:t>
            </a:r>
          </a:p>
          <a:p/>
          <a:p>
            <a:r>
              <a:t>Second, our beachhead in Ga-Mashie and Jamestown—famed for its Bukom boxing gyms, colonial lighthouse, and deep living history, where we have a direct onboarding pipeline of 150+ grassroots artisans.</a:t>
            </a:r>
          </a:p>
          <a:p/>
          <a:p>
            <a:r>
              <a:t>And third, the Aburi corridor—where master woodcarvers and stool makers offer high-value cultural workshops.</a:t>
            </a:r>
          </a:p>
          <a:p/>
          <a:p>
            <a:r>
              <a:t>This focus gives us tight geographic density, fast word-of-mouth, and low operating costs."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(Slide 4 - 35 seconds):</a:t>
            </a:r>
          </a:p>
          <a:p/>
          <a:p>
            <a:r>
              <a:t>"Judges, here is exactly how money and trust move on Kwan in 4 simple steps:</a:t>
            </a:r>
          </a:p>
          <a:p/>
          <a:p>
            <a:r>
              <a:t>Step 1: The traveler books with their regular international debit or credit card through our Paystack payment gateway. No need to look for a street ATM or exchange foreign cash.</a:t>
            </a:r>
          </a:p>
          <a:p/>
          <a:p>
            <a:r>
              <a:t>Step 2: 100% of the funds are locked safely in Kwan's Escrow Vault. The traveler receives a secret 4-digit release PIN via SMS.</a:t>
            </a:r>
          </a:p>
          <a:p/>
          <a:p>
            <a:r>
              <a:t>Step 3: The host delivers the authentic experience. The traveler holds the PIN in their pocket and only shares it when the tour concludes.</a:t>
            </a:r>
          </a:p>
          <a:p/>
          <a:p>
            <a:r>
              <a:t>Step 4: The host enters the 4-digit PIN into their simple mobile terminal. In less than 60 seconds, 90% of the funds land directly in their MTN Mobile Money wallet.</a:t>
            </a:r>
          </a:p>
          <a:p/>
          <a:p>
            <a:r>
              <a:t>If a tour is cancelled or disputed, funds are protected. If it succeeds, the host gets paid immediately. Zero cash, zero lag, total trust."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(Slide 5 - 35 seconds):</a:t>
            </a:r>
          </a:p>
          <a:p/>
          <a:p>
            <a:r>
              <a:t>"Judges, Kwan is not an idea on paper or a series of design mockups. We built and tested a live working MVP.</a:t>
            </a:r>
          </a:p>
          <a:p/>
          <a:p>
            <a:r>
              <a:t>On the left, our core marketplace engine: travelers select guests, see transparent pricing in dollars and cedis, pay via card, receive a 4-digit code, and hosts redeem that code on a lightweight terminal to receive Mobile Money instantly. We even designed an outdoor sunlight mode for street guides working under bright tropical sun.</a:t>
            </a:r>
          </a:p>
          <a:p/>
          <a:p>
            <a:r>
              <a:t>On the right, our Cultural AI Concierge, powered by Gemini 1.5. It acts as an on-the-ground cultural guardian: teaching travelers how to pronounce Ga and Twi greetings, explaining compound etiquette, giving exact trotro minibus directions and fares, and matching them to verified artisans.</a:t>
            </a:r>
          </a:p>
          <a:p/>
          <a:p>
            <a:r>
              <a:t>Come to our table after the pitch to test it live on your own phone."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(Slide 6 - 35 seconds):</a:t>
            </a:r>
          </a:p>
          <a:p/>
          <a:p>
            <a:r>
              <a:t>"Judges often ask: What stops Booking.com, Airbnb, or Viator from doing this tomorrow?</a:t>
            </a:r>
          </a:p>
          <a:p/>
          <a:p>
            <a:r>
              <a:t>The answer is that global platforms are structurally trapped in Western banking infrastructure.</a:t>
            </a:r>
          </a:p>
          <a:p/>
          <a:p>
            <a:r>
              <a:t>First, to register on Booking.com, you need a commercial bank account, a tax ID, and international wire acceptance. In Ghana, 92.3% of businesses are informal. An international wire transfer carries a $25 bank fee—which wipes out the entire profit of a $30 walking tour.</a:t>
            </a:r>
          </a:p>
          <a:p/>
          <a:p>
            <a:r>
              <a:t>Second, our field verification network. We verify hosts in person using Ghana Cards, photo audits, and phone wallet binding. That physical trust cannot be scraped from the web.</a:t>
            </a:r>
          </a:p>
          <a:p/>
          <a:p>
            <a:r>
              <a:t>Third, our tour operator partnerships. We work with established boutique operators, allowing them to list verified experiences on Kwan for a 10% to 15% commission while we handle the escrow and guide payments.</a:t>
            </a:r>
          </a:p>
          <a:p/>
          <a:p>
            <a:r>
              <a:t>Software can be cloned. Native African Mobile Money compliance and community trust cannot."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(Slide 7 - 35 seconds):</a:t>
            </a:r>
          </a:p>
          <a:p/>
          <a:p>
            <a:r>
              <a:t>"Judges, we have zero fabricated traction numbers in this pitch deck.</a:t>
            </a:r>
          </a:p>
          <a:p/>
          <a:p>
            <a:r>
              <a:t>Every single metric on this slide comes directly from official 2024 regulatory data:</a:t>
            </a:r>
          </a:p>
          <a:p>
            <a:r>
              <a:t>• Ghana Tourism Authority reports $2.39 billion in annual tourist spending.</a:t>
            </a:r>
          </a:p>
          <a:p>
            <a:r>
              <a:t>• The Ghana Statistical Service Integrated Business Survey confirms that 92.3% of business establishments in Ghana operate informally.</a:t>
            </a:r>
          </a:p>
          <a:p>
            <a:r>
              <a:t>• The Bank of Ghana reports 71 million registered Mobile Money accounts transacting GH¢3.01 trillion annually—a 56% year-over-year surge.</a:t>
            </a:r>
          </a:p>
          <a:p/>
          <a:p>
            <a:r>
              <a:t>On the ground, we have mapped out 150+ grassroots artisans in Ga-Mashie for our beachhead pilot, and built automated remittance tracking for the 1% Tourism Development Levy to support national heritage maintenance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(Slide 8 - 35 seconds):</a:t>
            </a:r>
          </a:p>
          <a:p/>
          <a:p>
            <a:r>
              <a:t>"Judges, look at the unit economics on this slide.</a:t>
            </a:r>
          </a:p>
          <a:p/>
          <a:p>
            <a:r>
              <a:t>On a standard $50 cultural tour booking:</a:t>
            </a:r>
          </a:p>
          <a:p>
            <a:r>
              <a:t>• 90% ($45.00) goes straight to the local grassroots host via Mobile Money.</a:t>
            </a:r>
          </a:p>
          <a:p>
            <a:r>
              <a:t>• 10% ($5.00) is Kwan's platform take rate.</a:t>
            </a:r>
          </a:p>
          <a:p>
            <a:r>
              <a:t>• Paystack card processing takes $1.75 (3.5%).</a:t>
            </a:r>
          </a:p>
          <a:p>
            <a:r>
              <a:t>• The 1% statutory Tourism Development Levy takes $0.50.</a:t>
            </a:r>
          </a:p>
          <a:p>
            <a:r>
              <a:t>• Leaving Kwan with $2.75 in clean net profit—a 55% to 60% contribution margin per tour.</a:t>
            </a:r>
          </a:p>
          <a:p/>
          <a:p>
            <a:r>
              <a:t>We have zero inventory costs, zero van leases, and zero full-time guide payroll. Because our hosts earn nearly 4 times the local minimum wage paid immediately to their phones, they become our strongest viral ambassadors. We are profitable on every single tour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(Slide 9 - 40 seconds):</a:t>
            </a:r>
          </a:p>
          <a:p/>
          <a:p>
            <a:r>
              <a:t>"Judges, mentors, and summit leaders. As a proud Top 5 Finalist of the Pan African AI Summit 2026, we stand before you with a working product ready to capture Africa's biggest travel season.</a:t>
            </a:r>
          </a:p>
          <a:p/>
          <a:p>
            <a:r>
              <a:t>Over the next 30 days, we are completing our Paystack Mobile Money automated disbursement setup and onboarding our first 20 verified hosts across Ga-Mashie and the Kwame Nkrumah Park corridors.</a:t>
            </a:r>
          </a:p>
          <a:p/>
          <a:p>
            <a:r>
              <a:t>In November and December, we launch commercially into Ghana's massive 'Detty December' season, targeting 1,000 paid bookings and $50,000 in gross transaction volume.</a:t>
            </a:r>
          </a:p>
          <a:p/>
          <a:p>
            <a:r>
              <a:t>Kwan bridges the 92.3% financial divide by putting 90% of travel spend directly into the Mobile Money wallets of Africa's grassroots cultural masters. With your backing as the Grand Champion of PAAIS 2026, we will build the trusted financial bridge connecting the diaspora to authentic Africa.</a:t>
            </a:r>
          </a:p>
          <a:p/>
          <a:p>
            <a:r>
              <a:t>Thank you, and please visit our demo station to test the live escrow payment on your phone!"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594360"/>
            <a:ext cx="5349240" cy="356616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594360"/>
            <a:ext cx="534924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wan_logo_white_bg.png"/>
          <p:cNvPicPr>
            <a:picLocks noChangeAspect="1"/>
          </p:cNvPicPr>
          <p:nvPr/>
        </p:nvPicPr>
        <p:blipFill>
          <a:blip r:embed="rId2"/>
          <a:stretch>
            <a:fillRect/>
          </a:stretch>
        </p:blipFill>
        <p:spPr>
          <a:xfrm>
            <a:off x="777240" y="749808"/>
            <a:ext cx="4892040" cy="1645920"/>
          </a:xfrm>
          <a:prstGeom prst="rect">
            <a:avLst/>
          </a:prstGeom>
        </p:spPr>
      </p:pic>
      <p:sp>
        <p:nvSpPr>
          <p:cNvPr id="7" name="TextBox 6"/>
          <p:cNvSpPr txBox="1"/>
          <p:nvPr/>
        </p:nvSpPr>
        <p:spPr>
          <a:xfrm>
            <a:off x="777240" y="2514600"/>
            <a:ext cx="4892040" cy="219456"/>
          </a:xfrm>
          <a:prstGeom prst="rect">
            <a:avLst/>
          </a:prstGeom>
          <a:noFill/>
        </p:spPr>
        <p:txBody>
          <a:bodyPr wrap="square" lIns="0" rIns="0" tIns="0" bIns="0">
            <a:spAutoFit/>
          </a:bodyPr>
          <a:lstStyle/>
          <a:p>
            <a:pPr algn="l"/>
            <a:r>
              <a:rPr sz="1000" b="1" i="0">
                <a:solidFill>
                  <a:srgbClr val="B45309"/>
                </a:solidFill>
                <a:latin typeface="Segoe UI"/>
              </a:rPr>
              <a:t>THE TRUSTED CULTURAL TRAVEL LAYER</a:t>
            </a:r>
          </a:p>
        </p:txBody>
      </p:sp>
      <p:sp>
        <p:nvSpPr>
          <p:cNvPr id="8" name="TextBox 7"/>
          <p:cNvSpPr txBox="1"/>
          <p:nvPr/>
        </p:nvSpPr>
        <p:spPr>
          <a:xfrm>
            <a:off x="777240" y="2761488"/>
            <a:ext cx="4892040" cy="566928"/>
          </a:xfrm>
          <a:prstGeom prst="rect">
            <a:avLst/>
          </a:prstGeom>
          <a:noFill/>
        </p:spPr>
        <p:txBody>
          <a:bodyPr wrap="square" lIns="0" rIns="0" tIns="0" bIns="0">
            <a:spAutoFit/>
          </a:bodyPr>
          <a:lstStyle/>
          <a:p>
            <a:pPr algn="l"/>
            <a:r>
              <a:rPr sz="1350" b="1" i="0">
                <a:solidFill>
                  <a:srgbClr val="0F172A"/>
                </a:solidFill>
                <a:latin typeface="Segoe UI"/>
              </a:rPr>
              <a:t>Tell Kwan how you want to experience Ghana.
One conversation. One trusted local host.</a:t>
            </a:r>
          </a:p>
        </p:txBody>
      </p:sp>
      <p:sp>
        <p:nvSpPr>
          <p:cNvPr id="9" name="TextBox 8"/>
          <p:cNvSpPr txBox="1"/>
          <p:nvPr/>
        </p:nvSpPr>
        <p:spPr>
          <a:xfrm>
            <a:off x="777240" y="3383280"/>
            <a:ext cx="4892040" cy="640080"/>
          </a:xfrm>
          <a:prstGeom prst="rect">
            <a:avLst/>
          </a:prstGeom>
          <a:noFill/>
        </p:spPr>
        <p:txBody>
          <a:bodyPr wrap="square" lIns="0" rIns="0" tIns="0" bIns="0">
            <a:spAutoFit/>
          </a:bodyPr>
          <a:lstStyle/>
          <a:p>
            <a:pPr algn="l"/>
            <a:r>
              <a:rPr sz="1100" b="0" i="0">
                <a:solidFill>
                  <a:srgbClr val="334155"/>
                </a:solidFill>
                <a:latin typeface="Segoe UI"/>
              </a:rPr>
              <a:t>Kwan (Akan: 'The Way' or 'The Path') connects diaspora travelers directly to verified local African elders, artisans, and cultural hosts.</a:t>
            </a:r>
          </a:p>
        </p:txBody>
      </p:sp>
      <p:sp>
        <p:nvSpPr>
          <p:cNvPr id="10" name="Rounded Rectangle 9"/>
          <p:cNvSpPr/>
          <p:nvPr/>
        </p:nvSpPr>
        <p:spPr>
          <a:xfrm>
            <a:off x="548640" y="4297680"/>
            <a:ext cx="5349240" cy="1691640"/>
          </a:xfrm>
          <a:prstGeom prst="roundRect">
            <a:avLst>
              <a:gd name="adj" fmla="val 8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297680"/>
            <a:ext cx="45720" cy="16916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4462272"/>
            <a:ext cx="3108960" cy="237744"/>
          </a:xfrm>
          <a:prstGeom prst="roundRect">
            <a:avLst>
              <a:gd name="adj" fmla="val 5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480559"/>
            <a:ext cx="3108960" cy="201168"/>
          </a:xfrm>
          <a:prstGeom prst="rect">
            <a:avLst/>
          </a:prstGeom>
          <a:noFill/>
        </p:spPr>
        <p:txBody>
          <a:bodyPr wrap="square" lIns="0" rIns="0" tIns="0" bIns="0">
            <a:spAutoFit/>
          </a:bodyPr>
          <a:lstStyle/>
          <a:p>
            <a:pPr algn="ctr"/>
            <a:r>
              <a:rPr sz="850" b="1" i="0">
                <a:solidFill>
                  <a:srgbClr val="FFFFFF"/>
                </a:solidFill>
                <a:latin typeface="Segoe UI"/>
              </a:rPr>
              <a:t>TRUSTED CULTURAL TRAVEL · GHANA BEACHHEAD</a:t>
            </a:r>
          </a:p>
        </p:txBody>
      </p:sp>
      <p:sp>
        <p:nvSpPr>
          <p:cNvPr id="14" name="TextBox 13"/>
          <p:cNvSpPr txBox="1"/>
          <p:nvPr/>
        </p:nvSpPr>
        <p:spPr>
          <a:xfrm>
            <a:off x="777240" y="4791456"/>
            <a:ext cx="4892040" cy="292608"/>
          </a:xfrm>
          <a:prstGeom prst="rect">
            <a:avLst/>
          </a:prstGeom>
          <a:noFill/>
        </p:spPr>
        <p:txBody>
          <a:bodyPr wrap="square" lIns="0" rIns="0" tIns="0" bIns="0">
            <a:spAutoFit/>
          </a:bodyPr>
          <a:lstStyle/>
          <a:p>
            <a:pPr algn="l"/>
            <a:r>
              <a:rPr sz="1400" b="1" i="0">
                <a:solidFill>
                  <a:srgbClr val="0F172A"/>
                </a:solidFill>
                <a:latin typeface="Segoe UI"/>
              </a:rPr>
              <a:t>Caleb Botchway Kwabena Odikro</a:t>
            </a:r>
          </a:p>
        </p:txBody>
      </p:sp>
      <p:sp>
        <p:nvSpPr>
          <p:cNvPr id="15" name="TextBox 14"/>
          <p:cNvSpPr txBox="1"/>
          <p:nvPr/>
        </p:nvSpPr>
        <p:spPr>
          <a:xfrm>
            <a:off x="777240" y="5084064"/>
            <a:ext cx="4892040" cy="219456"/>
          </a:xfrm>
          <a:prstGeom prst="rect">
            <a:avLst/>
          </a:prstGeom>
          <a:noFill/>
        </p:spPr>
        <p:txBody>
          <a:bodyPr wrap="square" lIns="0" rIns="0" tIns="0" bIns="0">
            <a:spAutoFit/>
          </a:bodyPr>
          <a:lstStyle/>
          <a:p>
            <a:pPr algn="l"/>
            <a:r>
              <a:rPr sz="1100" b="1" i="0">
                <a:solidFill>
                  <a:srgbClr val="B45309"/>
                </a:solidFill>
                <a:latin typeface="Segoe UI"/>
              </a:rPr>
              <a:t>Founder &amp; Lead Architect  ·  Kwan Technologies Ltd</a:t>
            </a:r>
          </a:p>
        </p:txBody>
      </p:sp>
      <p:sp>
        <p:nvSpPr>
          <p:cNvPr id="16" name="TextBox 15"/>
          <p:cNvSpPr txBox="1"/>
          <p:nvPr/>
        </p:nvSpPr>
        <p:spPr>
          <a:xfrm>
            <a:off x="777240" y="5340096"/>
            <a:ext cx="4892040" cy="201168"/>
          </a:xfrm>
          <a:prstGeom prst="rect">
            <a:avLst/>
          </a:prstGeom>
          <a:noFill/>
        </p:spPr>
        <p:txBody>
          <a:bodyPr wrap="square" lIns="0" rIns="0" tIns="0" bIns="0">
            <a:spAutoFit/>
          </a:bodyPr>
          <a:lstStyle/>
          <a:p>
            <a:pPr algn="l"/>
            <a:r>
              <a:rPr sz="1000" b="0" i="0">
                <a:solidFill>
                  <a:srgbClr val="64748B"/>
                </a:solidFill>
                <a:latin typeface="Segoe UI"/>
              </a:rPr>
              <a:t>cbotch5000@gmail.com  ·  +233 24 111 2233  ·  Accra, Ghana</a:t>
            </a:r>
          </a:p>
        </p:txBody>
      </p:sp>
      <p:sp>
        <p:nvSpPr>
          <p:cNvPr id="17" name="TextBox 16"/>
          <p:cNvSpPr txBox="1"/>
          <p:nvPr/>
        </p:nvSpPr>
        <p:spPr>
          <a:xfrm>
            <a:off x="777240" y="5596128"/>
            <a:ext cx="4892040" cy="219456"/>
          </a:xfrm>
          <a:prstGeom prst="rect">
            <a:avLst/>
          </a:prstGeom>
          <a:noFill/>
        </p:spPr>
        <p:txBody>
          <a:bodyPr wrap="square" lIns="0" rIns="0" tIns="0" bIns="0">
            <a:spAutoFit/>
          </a:bodyPr>
          <a:lstStyle/>
          <a:p>
            <a:pPr algn="l"/>
            <a:r>
              <a:rPr sz="1000" b="1" i="0">
                <a:solidFill>
                  <a:srgbClr val="047857"/>
                </a:solidFill>
                <a:latin typeface="Segoe UI"/>
              </a:rPr>
              <a:t>✦ Starting in Accra and Cape Coast · Scaling across Africa</a:t>
            </a:r>
          </a:p>
        </p:txBody>
      </p:sp>
      <p:sp>
        <p:nvSpPr>
          <p:cNvPr id="18" name="Rounded Rectangle 17"/>
          <p:cNvSpPr/>
          <p:nvPr/>
        </p:nvSpPr>
        <p:spPr>
          <a:xfrm>
            <a:off x="6080760" y="594360"/>
            <a:ext cx="5559552" cy="169164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80760" y="594360"/>
            <a:ext cx="54864" cy="16916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09360" y="749808"/>
            <a:ext cx="2468880" cy="219456"/>
          </a:xfrm>
          <a:prstGeom prst="roundRect">
            <a:avLst>
              <a:gd name="adj" fmla="val 50000"/>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768096"/>
            <a:ext cx="2468880" cy="182879"/>
          </a:xfrm>
          <a:prstGeom prst="rect">
            <a:avLst/>
          </a:prstGeom>
          <a:noFill/>
        </p:spPr>
        <p:txBody>
          <a:bodyPr wrap="square" lIns="0" rIns="0" tIns="0" bIns="0">
            <a:spAutoFit/>
          </a:bodyPr>
          <a:lstStyle/>
          <a:p>
            <a:pPr algn="ctr"/>
            <a:r>
              <a:rPr sz="850" b="1" i="0">
                <a:solidFill>
                  <a:srgbClr val="B45309"/>
                </a:solidFill>
                <a:latin typeface="Segoe UI"/>
              </a:rPr>
              <a:t>01 · AUTHENTIC CULTURAL ACCESS</a:t>
            </a:r>
          </a:p>
        </p:txBody>
      </p:sp>
      <p:sp>
        <p:nvSpPr>
          <p:cNvPr id="22" name="TextBox 21"/>
          <p:cNvSpPr txBox="1"/>
          <p:nvPr/>
        </p:nvSpPr>
        <p:spPr>
          <a:xfrm>
            <a:off x="6309360" y="1024128"/>
            <a:ext cx="5120640" cy="292608"/>
          </a:xfrm>
          <a:prstGeom prst="rect">
            <a:avLst/>
          </a:prstGeom>
          <a:noFill/>
        </p:spPr>
        <p:txBody>
          <a:bodyPr wrap="square" lIns="0" rIns="0" tIns="0" bIns="0">
            <a:spAutoFit/>
          </a:bodyPr>
          <a:lstStyle/>
          <a:p>
            <a:pPr algn="l"/>
            <a:r>
              <a:rPr sz="1500" b="1" i="0">
                <a:solidFill>
                  <a:srgbClr val="0F172A"/>
                </a:solidFill>
                <a:latin typeface="Segoe UI"/>
              </a:rPr>
              <a:t>Living African Culture</a:t>
            </a:r>
          </a:p>
        </p:txBody>
      </p:sp>
      <p:sp>
        <p:nvSpPr>
          <p:cNvPr id="23" name="TextBox 22"/>
          <p:cNvSpPr txBox="1"/>
          <p:nvPr/>
        </p:nvSpPr>
        <p:spPr>
          <a:xfrm>
            <a:off x="6309360" y="1353312"/>
            <a:ext cx="5120640" cy="502920"/>
          </a:xfrm>
          <a:prstGeom prst="rect">
            <a:avLst/>
          </a:prstGeom>
          <a:noFill/>
        </p:spPr>
        <p:txBody>
          <a:bodyPr wrap="square" lIns="0" rIns="0" tIns="0" bIns="0">
            <a:spAutoFit/>
          </a:bodyPr>
          <a:lstStyle/>
          <a:p>
            <a:pPr algn="l"/>
            <a:r>
              <a:rPr sz="1100" b="0" i="0">
                <a:solidFill>
                  <a:srgbClr val="334155"/>
                </a:solidFill>
                <a:latin typeface="Segoe UI"/>
              </a:rPr>
              <a:t>Direct, unfiltered connection to master artisans, boxing coaches, culinary elders, and community storytellers—bypassing sterile commercial tour operators.</a:t>
            </a:r>
          </a:p>
        </p:txBody>
      </p:sp>
      <p:sp>
        <p:nvSpPr>
          <p:cNvPr id="24" name="TextBox 23"/>
          <p:cNvSpPr txBox="1"/>
          <p:nvPr/>
        </p:nvSpPr>
        <p:spPr>
          <a:xfrm>
            <a:off x="6309360" y="1938528"/>
            <a:ext cx="5120640" cy="219456"/>
          </a:xfrm>
          <a:prstGeom prst="rect">
            <a:avLst/>
          </a:prstGeom>
          <a:noFill/>
        </p:spPr>
        <p:txBody>
          <a:bodyPr wrap="square" lIns="0" rIns="0" tIns="0" bIns="0">
            <a:spAutoFit/>
          </a:bodyPr>
          <a:lstStyle/>
          <a:p>
            <a:pPr algn="l"/>
            <a:r>
              <a:rPr sz="950" b="1" i="0">
                <a:solidFill>
                  <a:srgbClr val="B45309"/>
                </a:solidFill>
                <a:latin typeface="Segoe UI"/>
              </a:rPr>
              <a:t>✦ Verified indigenous hosts  ·  Living community heritage</a:t>
            </a:r>
          </a:p>
        </p:txBody>
      </p:sp>
      <p:sp>
        <p:nvSpPr>
          <p:cNvPr id="25" name="Rounded Rectangle 24"/>
          <p:cNvSpPr/>
          <p:nvPr/>
        </p:nvSpPr>
        <p:spPr>
          <a:xfrm>
            <a:off x="6080760" y="2450592"/>
            <a:ext cx="5559552" cy="169164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80760" y="2450592"/>
            <a:ext cx="54864" cy="16916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09360" y="2606040"/>
            <a:ext cx="2468880" cy="219456"/>
          </a:xfrm>
          <a:prstGeom prst="roundRect">
            <a:avLst>
              <a:gd name="adj" fmla="val 50000"/>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2624328"/>
            <a:ext cx="2468880" cy="182879"/>
          </a:xfrm>
          <a:prstGeom prst="rect">
            <a:avLst/>
          </a:prstGeom>
          <a:noFill/>
        </p:spPr>
        <p:txBody>
          <a:bodyPr wrap="square" lIns="0" rIns="0" tIns="0" bIns="0">
            <a:spAutoFit/>
          </a:bodyPr>
          <a:lstStyle/>
          <a:p>
            <a:pPr algn="ctr"/>
            <a:r>
              <a:rPr sz="850" b="1" i="0">
                <a:solidFill>
                  <a:srgbClr val="0284C7"/>
                </a:solidFill>
                <a:latin typeface="Segoe UI"/>
              </a:rPr>
              <a:t>02 · CONVERSATIONAL TRIP ENGINE</a:t>
            </a:r>
          </a:p>
        </p:txBody>
      </p:sp>
      <p:sp>
        <p:nvSpPr>
          <p:cNvPr id="29" name="TextBox 28"/>
          <p:cNvSpPr txBox="1"/>
          <p:nvPr/>
        </p:nvSpPr>
        <p:spPr>
          <a:xfrm>
            <a:off x="6309360" y="2880360"/>
            <a:ext cx="5120640" cy="292608"/>
          </a:xfrm>
          <a:prstGeom prst="rect">
            <a:avLst/>
          </a:prstGeom>
          <a:noFill/>
        </p:spPr>
        <p:txBody>
          <a:bodyPr wrap="square" lIns="0" rIns="0" tIns="0" bIns="0">
            <a:spAutoFit/>
          </a:bodyPr>
          <a:lstStyle/>
          <a:p>
            <a:pPr algn="l"/>
            <a:r>
              <a:rPr sz="1500" b="1" i="0">
                <a:solidFill>
                  <a:srgbClr val="0F172A"/>
                </a:solidFill>
                <a:latin typeface="Segoe UI"/>
              </a:rPr>
              <a:t>One Natural Conversation</a:t>
            </a:r>
          </a:p>
        </p:txBody>
      </p:sp>
      <p:sp>
        <p:nvSpPr>
          <p:cNvPr id="30" name="TextBox 29"/>
          <p:cNvSpPr txBox="1"/>
          <p:nvPr/>
        </p:nvSpPr>
        <p:spPr>
          <a:xfrm>
            <a:off x="6309360" y="3209544"/>
            <a:ext cx="5120640" cy="502920"/>
          </a:xfrm>
          <a:prstGeom prst="rect">
            <a:avLst/>
          </a:prstGeom>
          <a:noFill/>
        </p:spPr>
        <p:txBody>
          <a:bodyPr wrap="square" lIns="0" rIns="0" tIns="0" bIns="0">
            <a:spAutoFit/>
          </a:bodyPr>
          <a:lstStyle/>
          <a:p>
            <a:pPr algn="l"/>
            <a:r>
              <a:rPr sz="1100" b="0" i="0">
                <a:solidFill>
                  <a:srgbClr val="334155"/>
                </a:solidFill>
                <a:latin typeface="Segoe UI"/>
              </a:rPr>
              <a:t>Travelers describe their journey in plain English on Web or WhatsApp. Kwan autonomously coordinates verified hosts, checks dates, and builds unified itineraries.</a:t>
            </a:r>
          </a:p>
        </p:txBody>
      </p:sp>
      <p:sp>
        <p:nvSpPr>
          <p:cNvPr id="31" name="TextBox 30"/>
          <p:cNvSpPr txBox="1"/>
          <p:nvPr/>
        </p:nvSpPr>
        <p:spPr>
          <a:xfrm>
            <a:off x="6309360" y="3794760"/>
            <a:ext cx="5120640" cy="219456"/>
          </a:xfrm>
          <a:prstGeom prst="rect">
            <a:avLst/>
          </a:prstGeom>
          <a:noFill/>
        </p:spPr>
        <p:txBody>
          <a:bodyPr wrap="square" lIns="0" rIns="0" tIns="0" bIns="0">
            <a:spAutoFit/>
          </a:bodyPr>
          <a:lstStyle/>
          <a:p>
            <a:pPr algn="l"/>
            <a:r>
              <a:rPr sz="950" b="1" i="0">
                <a:solidFill>
                  <a:srgbClr val="0284C7"/>
                </a:solidFill>
                <a:latin typeface="Segoe UI"/>
              </a:rPr>
              <a:t>✦ Multi-vendor itinerary  ·  Zero search fatigue  ·  Sub-60s planning</a:t>
            </a:r>
          </a:p>
        </p:txBody>
      </p:sp>
      <p:sp>
        <p:nvSpPr>
          <p:cNvPr id="32" name="Rounded Rectangle 31"/>
          <p:cNvSpPr/>
          <p:nvPr/>
        </p:nvSpPr>
        <p:spPr>
          <a:xfrm>
            <a:off x="6080760" y="4297680"/>
            <a:ext cx="5559552" cy="169164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80760" y="4297680"/>
            <a:ext cx="54864" cy="1691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309360" y="4453128"/>
            <a:ext cx="2606040" cy="219456"/>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4471416"/>
            <a:ext cx="2606040" cy="182879"/>
          </a:xfrm>
          <a:prstGeom prst="rect">
            <a:avLst/>
          </a:prstGeom>
          <a:noFill/>
        </p:spPr>
        <p:txBody>
          <a:bodyPr wrap="square" lIns="0" rIns="0" tIns="0" bIns="0">
            <a:spAutoFit/>
          </a:bodyPr>
          <a:lstStyle/>
          <a:p>
            <a:pPr algn="ctr"/>
            <a:r>
              <a:rPr sz="850" b="1" i="0">
                <a:solidFill>
                  <a:srgbClr val="047857"/>
                </a:solidFill>
                <a:latin typeface="Segoe UI"/>
              </a:rPr>
              <a:t>03 · INCLUSIVE CROSS-BORDER RAILS</a:t>
            </a:r>
          </a:p>
        </p:txBody>
      </p:sp>
      <p:sp>
        <p:nvSpPr>
          <p:cNvPr id="36" name="TextBox 35"/>
          <p:cNvSpPr txBox="1"/>
          <p:nvPr/>
        </p:nvSpPr>
        <p:spPr>
          <a:xfrm>
            <a:off x="6309360" y="4727448"/>
            <a:ext cx="5120640" cy="292608"/>
          </a:xfrm>
          <a:prstGeom prst="rect">
            <a:avLst/>
          </a:prstGeom>
          <a:noFill/>
        </p:spPr>
        <p:txBody>
          <a:bodyPr wrap="square" lIns="0" rIns="0" tIns="0" bIns="0">
            <a:spAutoFit/>
          </a:bodyPr>
          <a:lstStyle/>
          <a:p>
            <a:pPr algn="l"/>
            <a:r>
              <a:rPr sz="1500" b="1" i="0">
                <a:solidFill>
                  <a:srgbClr val="0F172A"/>
                </a:solidFill>
                <a:latin typeface="Segoe UI"/>
              </a:rPr>
              <a:t>Bridging the Payment Divide</a:t>
            </a:r>
          </a:p>
        </p:txBody>
      </p:sp>
      <p:sp>
        <p:nvSpPr>
          <p:cNvPr id="37" name="TextBox 36"/>
          <p:cNvSpPr txBox="1"/>
          <p:nvPr/>
        </p:nvSpPr>
        <p:spPr>
          <a:xfrm>
            <a:off x="6309360" y="5056632"/>
            <a:ext cx="5120640" cy="502920"/>
          </a:xfrm>
          <a:prstGeom prst="rect">
            <a:avLst/>
          </a:prstGeom>
          <a:noFill/>
        </p:spPr>
        <p:txBody>
          <a:bodyPr wrap="square" lIns="0" rIns="0" tIns="0" bIns="0">
            <a:spAutoFit/>
          </a:bodyPr>
          <a:lstStyle/>
          <a:p>
            <a:pPr algn="l"/>
            <a:r>
              <a:rPr sz="1100" b="0" i="0">
                <a:solidFill>
                  <a:srgbClr val="334155"/>
                </a:solidFill>
                <a:latin typeface="Segoe UI"/>
              </a:rPr>
              <a:t>International travelers pay safely with Visa, Mastercard, or Apple Pay with zero cash anxiety. Grassroots hosts receive instant Mobile Money payouts directly to their phones.</a:t>
            </a:r>
          </a:p>
        </p:txBody>
      </p:sp>
      <p:sp>
        <p:nvSpPr>
          <p:cNvPr id="38" name="TextBox 37"/>
          <p:cNvSpPr txBox="1"/>
          <p:nvPr/>
        </p:nvSpPr>
        <p:spPr>
          <a:xfrm>
            <a:off x="6309360" y="5641848"/>
            <a:ext cx="5120640" cy="219456"/>
          </a:xfrm>
          <a:prstGeom prst="rect">
            <a:avLst/>
          </a:prstGeom>
          <a:noFill/>
        </p:spPr>
        <p:txBody>
          <a:bodyPr wrap="square" lIns="0" rIns="0" tIns="0" bIns="0">
            <a:spAutoFit/>
          </a:bodyPr>
          <a:lstStyle/>
          <a:p>
            <a:pPr algn="l"/>
            <a:r>
              <a:rPr sz="950" b="1" i="0">
                <a:solidFill>
                  <a:srgbClr val="047857"/>
                </a:solidFill>
                <a:latin typeface="Segoe UI"/>
              </a:rPr>
              <a:t>✦ Diaspora card checkout  ·  Instant MTN MoMo payout  ·  Fair commerce</a:t>
            </a:r>
          </a:p>
        </p:txBody>
      </p:sp>
      <p:sp>
        <p:nvSpPr>
          <p:cNvPr id="39" name="Rounded Rectangle 38"/>
          <p:cNvSpPr/>
          <p:nvPr/>
        </p:nvSpPr>
        <p:spPr>
          <a:xfrm>
            <a:off x="548640" y="6217920"/>
            <a:ext cx="11091672" cy="420624"/>
          </a:xfrm>
          <a:prstGeom prst="roundRect">
            <a:avLst>
              <a:gd name="adj" fmla="val 1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58368" y="6309359"/>
            <a:ext cx="36576" cy="23774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6300216"/>
            <a:ext cx="10762488" cy="256032"/>
          </a:xfrm>
          <a:prstGeom prst="rect">
            <a:avLst/>
          </a:prstGeom>
          <a:noFill/>
        </p:spPr>
        <p:txBody>
          <a:bodyPr wrap="square" lIns="0" rIns="0" tIns="0" bIns="0">
            <a:spAutoFit/>
          </a:bodyPr>
          <a:lstStyle/>
          <a:p>
            <a:pPr algn="l"/>
            <a:r>
              <a:rPr sz="1050" b="1" i="0">
                <a:solidFill>
                  <a:srgbClr val="F5A623"/>
                </a:solidFill>
                <a:latin typeface="Segoe UI"/>
              </a:rPr>
              <a:t>🌍 KWAN · THE PATH TO MEANINGFUL TRAVEL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1143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143000"/>
            <a:ext cx="1219169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143000"/>
            <a:ext cx="2926080" cy="3200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
            <a:ext cx="402336" cy="237744"/>
          </a:xfrm>
          <a:prstGeom prst="roundRect">
            <a:avLst>
              <a:gd name="adj" fmla="val 5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79"/>
            <a:ext cx="402336" cy="201168"/>
          </a:xfrm>
          <a:prstGeom prst="rect">
            <a:avLst/>
          </a:prstGeom>
          <a:noFill/>
        </p:spPr>
        <p:txBody>
          <a:bodyPr wrap="square" lIns="0" rIns="0" tIns="0" bIns="0">
            <a:spAutoFit/>
          </a:bodyPr>
          <a:lstStyle/>
          <a:p>
            <a:pPr algn="ctr"/>
            <a:r>
              <a:rPr sz="950" b="1" i="0">
                <a:solidFill>
                  <a:srgbClr val="FFFFFF"/>
                </a:solidFill>
                <a:latin typeface="Segoe UI"/>
              </a:rPr>
              <a:t>01</a:t>
            </a:r>
          </a:p>
        </p:txBody>
      </p:sp>
      <p:sp>
        <p:nvSpPr>
          <p:cNvPr id="9" name="TextBox 8"/>
          <p:cNvSpPr txBox="1"/>
          <p:nvPr/>
        </p:nvSpPr>
        <p:spPr>
          <a:xfrm>
            <a:off x="1051560" y="164592"/>
            <a:ext cx="7315200" cy="237744"/>
          </a:xfrm>
          <a:prstGeom prst="rect">
            <a:avLst/>
          </a:prstGeom>
          <a:noFill/>
        </p:spPr>
        <p:txBody>
          <a:bodyPr wrap="square" lIns="0" rIns="0" tIns="0" bIns="0">
            <a:spAutoFit/>
          </a:bodyPr>
          <a:lstStyle/>
          <a:p>
            <a:pPr algn="l"/>
            <a:r>
              <a:rPr sz="1000" b="1" i="0">
                <a:solidFill>
                  <a:srgbClr val="B45309"/>
                </a:solidFill>
                <a:latin typeface="Segoe UI"/>
              </a:rPr>
              <a:t>THE PROBLEM</a:t>
            </a:r>
          </a:p>
        </p:txBody>
      </p:sp>
      <p:sp>
        <p:nvSpPr>
          <p:cNvPr id="10" name="TextBox 9"/>
          <p:cNvSpPr txBox="1"/>
          <p:nvPr/>
        </p:nvSpPr>
        <p:spPr>
          <a:xfrm>
            <a:off x="548640" y="438912"/>
            <a:ext cx="10241280" cy="640080"/>
          </a:xfrm>
          <a:prstGeom prst="rect">
            <a:avLst/>
          </a:prstGeom>
          <a:noFill/>
        </p:spPr>
        <p:txBody>
          <a:bodyPr wrap="square" lIns="0" rIns="0" tIns="0" bIns="0">
            <a:spAutoFit/>
          </a:bodyPr>
          <a:lstStyle/>
          <a:p>
            <a:pPr algn="l"/>
            <a:r>
              <a:rPr sz="2300" b="1" i="0">
                <a:solidFill>
                  <a:srgbClr val="0F172A"/>
                </a:solidFill>
                <a:latin typeface="Segoe UI"/>
              </a:rPr>
              <a:t>92.3% of African Cultural Creators are Excluded from Global Tourism</a:t>
            </a:r>
          </a:p>
        </p:txBody>
      </p:sp>
      <p:sp>
        <p:nvSpPr>
          <p:cNvPr id="11" name="Rounded Rectangle 10"/>
          <p:cNvSpPr/>
          <p:nvPr/>
        </p:nvSpPr>
        <p:spPr>
          <a:xfrm>
            <a:off x="11018520" y="164592"/>
            <a:ext cx="804672" cy="804672"/>
          </a:xfrm>
          <a:prstGeom prst="roundRect">
            <a:avLst>
              <a:gd name="adj" fmla="val 15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wan_logo_square_white_bg.png"/>
          <p:cNvPicPr>
            <a:picLocks noChangeAspect="1"/>
          </p:cNvPicPr>
          <p:nvPr/>
        </p:nvPicPr>
        <p:blipFill>
          <a:blip r:embed="rId2"/>
          <a:stretch>
            <a:fillRect/>
          </a:stretch>
        </p:blipFill>
        <p:spPr>
          <a:xfrm>
            <a:off x="11064240" y="210312"/>
            <a:ext cx="713232" cy="713232"/>
          </a:xfrm>
          <a:prstGeom prst="rect">
            <a:avLst/>
          </a:prstGeom>
        </p:spPr>
      </p:pic>
      <p:sp>
        <p:nvSpPr>
          <p:cNvPr id="13" name="Rounded Rectangle 12"/>
          <p:cNvSpPr/>
          <p:nvPr/>
        </p:nvSpPr>
        <p:spPr>
          <a:xfrm>
            <a:off x="548640" y="1280160"/>
            <a:ext cx="11091672" cy="411480"/>
          </a:xfrm>
          <a:prstGeom prst="roundRect">
            <a:avLst>
              <a:gd name="adj" fmla="val 8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362456"/>
            <a:ext cx="10689336" cy="246888"/>
          </a:xfrm>
          <a:prstGeom prst="rect">
            <a:avLst/>
          </a:prstGeom>
          <a:noFill/>
        </p:spPr>
        <p:txBody>
          <a:bodyPr wrap="square" lIns="0" rIns="0" tIns="0" bIns="0">
            <a:spAutoFit/>
          </a:bodyPr>
          <a:lstStyle/>
          <a:p>
            <a:pPr algn="l"/>
            <a:r>
              <a:rPr sz="1100" b="1" i="0">
                <a:solidFill>
                  <a:srgbClr val="B45309"/>
                </a:solidFill>
                <a:latin typeface="Segoe UI"/>
              </a:rPr>
              <a:t>🚨 THE CORE DISCONNECT: Tourists arrive with Visa and Apple Pay. Local African hosts run on Mobile Money. Global apps ignore this reality.</a:t>
            </a:r>
          </a:p>
        </p:txBody>
      </p:sp>
      <p:sp>
        <p:nvSpPr>
          <p:cNvPr id="15" name="Rounded Rectangle 14"/>
          <p:cNvSpPr/>
          <p:nvPr/>
        </p:nvSpPr>
        <p:spPr>
          <a:xfrm>
            <a:off x="548640" y="1874519"/>
            <a:ext cx="3840480" cy="4160520"/>
          </a:xfrm>
          <a:prstGeom prst="roundRect">
            <a:avLst>
              <a:gd name="adj" fmla="val 8000"/>
            </a:avLst>
          </a:prstGeom>
          <a:solidFill>
            <a:srgbClr val="FFF7ED"/>
          </a:solidFill>
          <a:ln w="9525">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874519"/>
            <a:ext cx="3840480" cy="73152"/>
          </a:xfrm>
          <a:prstGeom prst="rect">
            <a:avLst/>
          </a:prstGeom>
          <a:solidFill>
            <a:srgbClr val="E0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2084831"/>
            <a:ext cx="2560320" cy="256032"/>
          </a:xfrm>
          <a:prstGeom prst="roundRect">
            <a:avLst>
              <a:gd name="adj" fmla="val 50000"/>
            </a:avLst>
          </a:prstGeom>
          <a:solidFill>
            <a:srgbClr val="E0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103120"/>
            <a:ext cx="2560320" cy="219456"/>
          </a:xfrm>
          <a:prstGeom prst="rect">
            <a:avLst/>
          </a:prstGeom>
          <a:noFill/>
        </p:spPr>
        <p:txBody>
          <a:bodyPr wrap="square" lIns="0" rIns="0" tIns="0" bIns="0">
            <a:spAutoFit/>
          </a:bodyPr>
          <a:lstStyle/>
          <a:p>
            <a:pPr algn="ctr"/>
            <a:r>
              <a:rPr sz="850" b="1" i="0">
                <a:solidFill>
                  <a:srgbClr val="FFFFFF"/>
                </a:solidFill>
                <a:latin typeface="Segoe UI"/>
              </a:rPr>
              <a:t>OFFICIAL REGULATORY METRIC</a:t>
            </a:r>
          </a:p>
        </p:txBody>
      </p:sp>
      <p:sp>
        <p:nvSpPr>
          <p:cNvPr id="19" name="TextBox 18"/>
          <p:cNvSpPr txBox="1"/>
          <p:nvPr/>
        </p:nvSpPr>
        <p:spPr>
          <a:xfrm>
            <a:off x="777240" y="2468880"/>
            <a:ext cx="3383280" cy="822960"/>
          </a:xfrm>
          <a:prstGeom prst="rect">
            <a:avLst/>
          </a:prstGeom>
          <a:noFill/>
        </p:spPr>
        <p:txBody>
          <a:bodyPr wrap="square" lIns="0" rIns="0" tIns="0" bIns="0">
            <a:spAutoFit/>
          </a:bodyPr>
          <a:lstStyle/>
          <a:p>
            <a:pPr algn="l"/>
            <a:r>
              <a:rPr sz="5200" b="1" i="0">
                <a:solidFill>
                  <a:srgbClr val="C2410C"/>
                </a:solidFill>
                <a:latin typeface="Segoe UI"/>
              </a:rPr>
              <a:t>92.3%</a:t>
            </a:r>
          </a:p>
        </p:txBody>
      </p:sp>
      <p:sp>
        <p:nvSpPr>
          <p:cNvPr id="20" name="TextBox 19"/>
          <p:cNvSpPr txBox="1"/>
          <p:nvPr/>
        </p:nvSpPr>
        <p:spPr>
          <a:xfrm>
            <a:off x="777240" y="3337560"/>
            <a:ext cx="3383280" cy="320040"/>
          </a:xfrm>
          <a:prstGeom prst="rect">
            <a:avLst/>
          </a:prstGeom>
          <a:noFill/>
        </p:spPr>
        <p:txBody>
          <a:bodyPr wrap="square" lIns="0" rIns="0" tIns="0" bIns="0">
            <a:spAutoFit/>
          </a:bodyPr>
          <a:lstStyle/>
          <a:p>
            <a:pPr algn="l"/>
            <a:r>
              <a:rPr sz="1800" b="1" i="0">
                <a:solidFill>
                  <a:srgbClr val="0F172A"/>
                </a:solidFill>
                <a:latin typeface="Segoe UI"/>
              </a:rPr>
              <a:t>Informal &amp; Unbanked</a:t>
            </a:r>
          </a:p>
        </p:txBody>
      </p:sp>
      <p:sp>
        <p:nvSpPr>
          <p:cNvPr id="21" name="TextBox 20"/>
          <p:cNvSpPr txBox="1"/>
          <p:nvPr/>
        </p:nvSpPr>
        <p:spPr>
          <a:xfrm>
            <a:off x="777240" y="3703320"/>
            <a:ext cx="3383280" cy="228600"/>
          </a:xfrm>
          <a:prstGeom prst="rect">
            <a:avLst/>
          </a:prstGeom>
          <a:noFill/>
        </p:spPr>
        <p:txBody>
          <a:bodyPr wrap="square" lIns="0" rIns="0" tIns="0" bIns="0">
            <a:spAutoFit/>
          </a:bodyPr>
          <a:lstStyle/>
          <a:p>
            <a:pPr algn="l"/>
            <a:r>
              <a:rPr sz="1100" b="1" i="0">
                <a:solidFill>
                  <a:srgbClr val="64748B"/>
                </a:solidFill>
                <a:latin typeface="Segoe UI"/>
              </a:rPr>
              <a:t>Ghana Statistical Service (IBES 2024)</a:t>
            </a:r>
          </a:p>
        </p:txBody>
      </p:sp>
      <p:sp>
        <p:nvSpPr>
          <p:cNvPr id="22" name="Rectangle 21"/>
          <p:cNvSpPr/>
          <p:nvPr/>
        </p:nvSpPr>
        <p:spPr>
          <a:xfrm>
            <a:off x="777240" y="4069080"/>
            <a:ext cx="3383280" cy="18288"/>
          </a:xfrm>
          <a:prstGeom prst="rect">
            <a:avLst/>
          </a:prstGeom>
          <a:solidFill>
            <a:srgbClr val="FD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251960"/>
            <a:ext cx="3383280" cy="411480"/>
          </a:xfrm>
          <a:prstGeom prst="rect">
            <a:avLst/>
          </a:prstGeom>
          <a:noFill/>
        </p:spPr>
        <p:txBody>
          <a:bodyPr wrap="square" lIns="0" rIns="0" tIns="0" bIns="0">
            <a:spAutoFit/>
          </a:bodyPr>
          <a:lstStyle/>
          <a:p>
            <a:pPr algn="l"/>
            <a:r>
              <a:rPr sz="1200" b="1" i="0">
                <a:solidFill>
                  <a:srgbClr val="0F172A"/>
                </a:solidFill>
                <a:latin typeface="Segoe UI"/>
              </a:rPr>
              <a:t>1.87 million micro-enterprises operate informally in Ghana.</a:t>
            </a:r>
          </a:p>
        </p:txBody>
      </p:sp>
      <p:sp>
        <p:nvSpPr>
          <p:cNvPr id="24" name="TextBox 23"/>
          <p:cNvSpPr txBox="1"/>
          <p:nvPr/>
        </p:nvSpPr>
        <p:spPr>
          <a:xfrm>
            <a:off x="777240" y="4709160"/>
            <a:ext cx="3383280" cy="822960"/>
          </a:xfrm>
          <a:prstGeom prst="rect">
            <a:avLst/>
          </a:prstGeom>
          <a:noFill/>
        </p:spPr>
        <p:txBody>
          <a:bodyPr wrap="square" lIns="0" rIns="0" tIns="0" bIns="0">
            <a:spAutoFit/>
          </a:bodyPr>
          <a:lstStyle/>
          <a:p>
            <a:pPr algn="l"/>
            <a:r>
              <a:rPr sz="1100" b="0" i="0">
                <a:solidFill>
                  <a:srgbClr val="334155"/>
                </a:solidFill>
                <a:latin typeface="Segoe UI"/>
              </a:rPr>
              <a:t>Because they lack corporate bank accounts (IBAN/SWIFT), they are structurally blocked from Booking.com, Airbnb, and Viator.</a:t>
            </a:r>
          </a:p>
        </p:txBody>
      </p:sp>
      <p:sp>
        <p:nvSpPr>
          <p:cNvPr id="25" name="Rounded Rectangle 24"/>
          <p:cNvSpPr/>
          <p:nvPr/>
        </p:nvSpPr>
        <p:spPr>
          <a:xfrm>
            <a:off x="4663440" y="1874519"/>
            <a:ext cx="6976872" cy="196596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663440" y="1874519"/>
            <a:ext cx="54864" cy="19659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892040" y="2057400"/>
            <a:ext cx="2377440" cy="256032"/>
          </a:xfrm>
          <a:prstGeom prst="roundRect">
            <a:avLst>
              <a:gd name="adj" fmla="val 50000"/>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92040" y="2075688"/>
            <a:ext cx="2377440" cy="219456"/>
          </a:xfrm>
          <a:prstGeom prst="rect">
            <a:avLst/>
          </a:prstGeom>
          <a:noFill/>
        </p:spPr>
        <p:txBody>
          <a:bodyPr wrap="square" lIns="0" rIns="0" tIns="0" bIns="0">
            <a:spAutoFit/>
          </a:bodyPr>
          <a:lstStyle/>
          <a:p>
            <a:pPr algn="ctr"/>
            <a:r>
              <a:rPr sz="900" b="1" i="0">
                <a:solidFill>
                  <a:srgbClr val="B45309"/>
                </a:solidFill>
                <a:latin typeface="Segoe UI"/>
              </a:rPr>
              <a:t>1. THE DIASPORA TRAVELER</a:t>
            </a:r>
          </a:p>
        </p:txBody>
      </p:sp>
      <p:sp>
        <p:nvSpPr>
          <p:cNvPr id="29" name="TextBox 28"/>
          <p:cNvSpPr txBox="1"/>
          <p:nvPr/>
        </p:nvSpPr>
        <p:spPr>
          <a:xfrm>
            <a:off x="4892040" y="2395728"/>
            <a:ext cx="6492240" cy="292608"/>
          </a:xfrm>
          <a:prstGeom prst="rect">
            <a:avLst/>
          </a:prstGeom>
          <a:noFill/>
        </p:spPr>
        <p:txBody>
          <a:bodyPr wrap="square" lIns="0" rIns="0" tIns="0" bIns="0">
            <a:spAutoFit/>
          </a:bodyPr>
          <a:lstStyle/>
          <a:p>
            <a:pPr algn="l"/>
            <a:r>
              <a:rPr sz="1600" b="1" i="0">
                <a:solidFill>
                  <a:srgbClr val="0F172A"/>
                </a:solidFill>
                <a:latin typeface="Segoe UI"/>
              </a:rPr>
              <a:t>Cash Anxiety &amp; Safety Risk</a:t>
            </a:r>
          </a:p>
        </p:txBody>
      </p:sp>
      <p:sp>
        <p:nvSpPr>
          <p:cNvPr id="30" name="TextBox 29"/>
          <p:cNvSpPr txBox="1"/>
          <p:nvPr/>
        </p:nvSpPr>
        <p:spPr>
          <a:xfrm>
            <a:off x="4892040" y="2788920"/>
            <a:ext cx="6492240" cy="274320"/>
          </a:xfrm>
          <a:prstGeom prst="rect">
            <a:avLst/>
          </a:prstGeom>
          <a:noFill/>
        </p:spPr>
        <p:txBody>
          <a:bodyPr wrap="square" lIns="0" rIns="0" tIns="0" bIns="0">
            <a:spAutoFit/>
          </a:bodyPr>
          <a:lstStyle/>
          <a:p>
            <a:pPr algn="l"/>
            <a:r>
              <a:rPr sz="1150" b="0" i="0">
                <a:solidFill>
                  <a:srgbClr val="334155"/>
                </a:solidFill>
                <a:latin typeface="Segoe UI"/>
              </a:rPr>
              <a:t>• Arrives with international credit cards and Apple Pay, but cannot use them on the street.</a:t>
            </a:r>
          </a:p>
        </p:txBody>
      </p:sp>
      <p:sp>
        <p:nvSpPr>
          <p:cNvPr id="31" name="TextBox 30"/>
          <p:cNvSpPr txBox="1"/>
          <p:nvPr/>
        </p:nvSpPr>
        <p:spPr>
          <a:xfrm>
            <a:off x="4892040" y="3108960"/>
            <a:ext cx="6492240" cy="274320"/>
          </a:xfrm>
          <a:prstGeom prst="rect">
            <a:avLst/>
          </a:prstGeom>
          <a:noFill/>
        </p:spPr>
        <p:txBody>
          <a:bodyPr wrap="square" lIns="0" rIns="0" tIns="0" bIns="0">
            <a:spAutoFit/>
          </a:bodyPr>
          <a:lstStyle/>
          <a:p>
            <a:pPr algn="l"/>
            <a:r>
              <a:rPr sz="1150" b="0" i="0">
                <a:solidFill>
                  <a:srgbClr val="334155"/>
                </a:solidFill>
                <a:latin typeface="Segoe UI"/>
              </a:rPr>
              <a:t>• Forced to carry risky envelopes of physical cash past broken street ATMs.</a:t>
            </a:r>
          </a:p>
        </p:txBody>
      </p:sp>
      <p:sp>
        <p:nvSpPr>
          <p:cNvPr id="32" name="TextBox 31"/>
          <p:cNvSpPr txBox="1"/>
          <p:nvPr/>
        </p:nvSpPr>
        <p:spPr>
          <a:xfrm>
            <a:off x="4892040" y="3429000"/>
            <a:ext cx="6492240" cy="274320"/>
          </a:xfrm>
          <a:prstGeom prst="rect">
            <a:avLst/>
          </a:prstGeom>
          <a:noFill/>
        </p:spPr>
        <p:txBody>
          <a:bodyPr wrap="square" lIns="0" rIns="0" tIns="0" bIns="0">
            <a:spAutoFit/>
          </a:bodyPr>
          <a:lstStyle/>
          <a:p>
            <a:pPr algn="l"/>
            <a:r>
              <a:rPr sz="1150" b="0" i="0">
                <a:solidFill>
                  <a:srgbClr val="334155"/>
                </a:solidFill>
                <a:latin typeface="Segoe UI"/>
              </a:rPr>
              <a:t>• Global apps only show sterile bus tours—locking travelers out of living culture.</a:t>
            </a:r>
          </a:p>
        </p:txBody>
      </p:sp>
      <p:sp>
        <p:nvSpPr>
          <p:cNvPr id="33" name="Rounded Rectangle 32"/>
          <p:cNvSpPr/>
          <p:nvPr/>
        </p:nvSpPr>
        <p:spPr>
          <a:xfrm>
            <a:off x="4663440" y="4069080"/>
            <a:ext cx="6976872" cy="196596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63440" y="4069080"/>
            <a:ext cx="54864" cy="19659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892040" y="4251960"/>
            <a:ext cx="2377440" cy="256032"/>
          </a:xfrm>
          <a:prstGeom prst="roundRect">
            <a:avLst>
              <a:gd name="adj" fmla="val 50000"/>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92040" y="4270248"/>
            <a:ext cx="2377440" cy="219456"/>
          </a:xfrm>
          <a:prstGeom prst="rect">
            <a:avLst/>
          </a:prstGeom>
          <a:noFill/>
        </p:spPr>
        <p:txBody>
          <a:bodyPr wrap="square" lIns="0" rIns="0" tIns="0" bIns="0">
            <a:spAutoFit/>
          </a:bodyPr>
          <a:lstStyle/>
          <a:p>
            <a:pPr algn="ctr"/>
            <a:r>
              <a:rPr sz="900" b="1" i="0">
                <a:solidFill>
                  <a:srgbClr val="0284C7"/>
                </a:solidFill>
                <a:latin typeface="Segoe UI"/>
              </a:rPr>
              <a:t>2. THE GRASSROOTS HOST</a:t>
            </a:r>
          </a:p>
        </p:txBody>
      </p:sp>
      <p:sp>
        <p:nvSpPr>
          <p:cNvPr id="37" name="TextBox 36"/>
          <p:cNvSpPr txBox="1"/>
          <p:nvPr/>
        </p:nvSpPr>
        <p:spPr>
          <a:xfrm>
            <a:off x="4892040" y="4590288"/>
            <a:ext cx="6492240" cy="292608"/>
          </a:xfrm>
          <a:prstGeom prst="rect">
            <a:avLst/>
          </a:prstGeom>
          <a:noFill/>
        </p:spPr>
        <p:txBody>
          <a:bodyPr wrap="square" lIns="0" rIns="0" tIns="0" bIns="0">
            <a:spAutoFit/>
          </a:bodyPr>
          <a:lstStyle/>
          <a:p>
            <a:pPr algn="l"/>
            <a:r>
              <a:rPr sz="1600" b="1" i="0">
                <a:solidFill>
                  <a:srgbClr val="0F172A"/>
                </a:solidFill>
                <a:latin typeface="Segoe UI"/>
              </a:rPr>
              <a:t>The Commercial Banking Wall</a:t>
            </a:r>
          </a:p>
        </p:txBody>
      </p:sp>
      <p:sp>
        <p:nvSpPr>
          <p:cNvPr id="38" name="TextBox 37"/>
          <p:cNvSpPr txBox="1"/>
          <p:nvPr/>
        </p:nvSpPr>
        <p:spPr>
          <a:xfrm>
            <a:off x="4892040" y="4983480"/>
            <a:ext cx="6492240" cy="274320"/>
          </a:xfrm>
          <a:prstGeom prst="rect">
            <a:avLst/>
          </a:prstGeom>
          <a:noFill/>
        </p:spPr>
        <p:txBody>
          <a:bodyPr wrap="square" lIns="0" rIns="0" tIns="0" bIns="0">
            <a:spAutoFit/>
          </a:bodyPr>
          <a:lstStyle/>
          <a:p>
            <a:pPr algn="l"/>
            <a:r>
              <a:rPr sz="1150" b="0" i="0">
                <a:solidFill>
                  <a:srgbClr val="334155"/>
                </a:solidFill>
                <a:latin typeface="Segoe UI"/>
              </a:rPr>
              <a:t>• Master cultural artisans &amp; boxing trainers operate 100% on Mobile Money (MTN MoMo).</a:t>
            </a:r>
          </a:p>
        </p:txBody>
      </p:sp>
      <p:sp>
        <p:nvSpPr>
          <p:cNvPr id="39" name="TextBox 38"/>
          <p:cNvSpPr txBox="1"/>
          <p:nvPr/>
        </p:nvSpPr>
        <p:spPr>
          <a:xfrm>
            <a:off x="4892040" y="5303520"/>
            <a:ext cx="6492240" cy="274320"/>
          </a:xfrm>
          <a:prstGeom prst="rect">
            <a:avLst/>
          </a:prstGeom>
          <a:noFill/>
        </p:spPr>
        <p:txBody>
          <a:bodyPr wrap="square" lIns="0" rIns="0" tIns="0" bIns="0">
            <a:spAutoFit/>
          </a:bodyPr>
          <a:lstStyle/>
          <a:p>
            <a:pPr algn="l"/>
            <a:r>
              <a:rPr sz="1150" b="0" i="0">
                <a:solidFill>
                  <a:srgbClr val="334155"/>
                </a:solidFill>
                <a:latin typeface="Segoe UI"/>
              </a:rPr>
              <a:t>• Zero access to SWIFT wires; $25 wire fees wipe out a full day's tour earnings.</a:t>
            </a:r>
          </a:p>
        </p:txBody>
      </p:sp>
      <p:sp>
        <p:nvSpPr>
          <p:cNvPr id="40" name="TextBox 39"/>
          <p:cNvSpPr txBox="1"/>
          <p:nvPr/>
        </p:nvSpPr>
        <p:spPr>
          <a:xfrm>
            <a:off x="4892040" y="5623560"/>
            <a:ext cx="6492240" cy="274320"/>
          </a:xfrm>
          <a:prstGeom prst="rect">
            <a:avLst/>
          </a:prstGeom>
          <a:noFill/>
        </p:spPr>
        <p:txBody>
          <a:bodyPr wrap="square" lIns="0" rIns="0" tIns="0" bIns="0">
            <a:spAutoFit/>
          </a:bodyPr>
          <a:lstStyle/>
          <a:p>
            <a:pPr algn="l"/>
            <a:r>
              <a:rPr sz="1150" b="0" i="0">
                <a:solidFill>
                  <a:srgbClr val="334155"/>
                </a:solidFill>
                <a:latin typeface="Segoe UI"/>
              </a:rPr>
              <a:t>• Exploited by unregulated street middlemen who demand 50% to 70% in cash kickbacks.</a:t>
            </a:r>
          </a:p>
        </p:txBody>
      </p:sp>
      <p:sp>
        <p:nvSpPr>
          <p:cNvPr id="41" name="Rounded Rectangle 40"/>
          <p:cNvSpPr/>
          <p:nvPr/>
        </p:nvSpPr>
        <p:spPr>
          <a:xfrm>
            <a:off x="548640" y="6217920"/>
            <a:ext cx="11091672" cy="420624"/>
          </a:xfrm>
          <a:prstGeom prst="roundRect">
            <a:avLst>
              <a:gd name="adj" fmla="val 1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58368" y="6309359"/>
            <a:ext cx="36576" cy="23774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8096" y="6300216"/>
            <a:ext cx="10762488" cy="256032"/>
          </a:xfrm>
          <a:prstGeom prst="rect">
            <a:avLst/>
          </a:prstGeom>
          <a:noFill/>
        </p:spPr>
        <p:txBody>
          <a:bodyPr wrap="square" lIns="0" rIns="0" tIns="0" bIns="0">
            <a:spAutoFit/>
          </a:bodyPr>
          <a:lstStyle/>
          <a:p>
            <a:pPr algn="l"/>
            <a:r>
              <a:rPr sz="1050" b="1" i="0">
                <a:solidFill>
                  <a:srgbClr val="F5A623"/>
                </a:solidFill>
                <a:latin typeface="Segoe UI"/>
              </a:rPr>
              <a:t>💡 THE STRUCTURAL REALITY: Western banking rails cannot solve this. Mobile Money escrow bridges the divide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1143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143000"/>
            <a:ext cx="1219169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143000"/>
            <a:ext cx="2926080" cy="3200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
            <a:ext cx="402336" cy="237744"/>
          </a:xfrm>
          <a:prstGeom prst="roundRect">
            <a:avLst>
              <a:gd name="adj" fmla="val 5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79"/>
            <a:ext cx="402336" cy="201168"/>
          </a:xfrm>
          <a:prstGeom prst="rect">
            <a:avLst/>
          </a:prstGeom>
          <a:noFill/>
        </p:spPr>
        <p:txBody>
          <a:bodyPr wrap="square" lIns="0" rIns="0" tIns="0" bIns="0">
            <a:spAutoFit/>
          </a:bodyPr>
          <a:lstStyle/>
          <a:p>
            <a:pPr algn="ctr"/>
            <a:r>
              <a:rPr sz="950" b="1" i="0">
                <a:solidFill>
                  <a:srgbClr val="FFFFFF"/>
                </a:solidFill>
                <a:latin typeface="Segoe UI"/>
              </a:rPr>
              <a:t>02</a:t>
            </a:r>
          </a:p>
        </p:txBody>
      </p:sp>
      <p:sp>
        <p:nvSpPr>
          <p:cNvPr id="9" name="TextBox 8"/>
          <p:cNvSpPr txBox="1"/>
          <p:nvPr/>
        </p:nvSpPr>
        <p:spPr>
          <a:xfrm>
            <a:off x="1051560" y="164592"/>
            <a:ext cx="7315200" cy="237744"/>
          </a:xfrm>
          <a:prstGeom prst="rect">
            <a:avLst/>
          </a:prstGeom>
          <a:noFill/>
        </p:spPr>
        <p:txBody>
          <a:bodyPr wrap="square" lIns="0" rIns="0" tIns="0" bIns="0">
            <a:spAutoFit/>
          </a:bodyPr>
          <a:lstStyle/>
          <a:p>
            <a:pPr algn="l"/>
            <a:r>
              <a:rPr sz="1000" b="1" i="0">
                <a:solidFill>
                  <a:srgbClr val="B45309"/>
                </a:solidFill>
                <a:latin typeface="Segoe UI"/>
              </a:rPr>
              <a:t>PILOT GEOGRAPHY</a:t>
            </a:r>
          </a:p>
        </p:txBody>
      </p:sp>
      <p:sp>
        <p:nvSpPr>
          <p:cNvPr id="10" name="TextBox 9"/>
          <p:cNvSpPr txBox="1"/>
          <p:nvPr/>
        </p:nvSpPr>
        <p:spPr>
          <a:xfrm>
            <a:off x="548640" y="438912"/>
            <a:ext cx="10241280" cy="640080"/>
          </a:xfrm>
          <a:prstGeom prst="rect">
            <a:avLst/>
          </a:prstGeom>
          <a:noFill/>
        </p:spPr>
        <p:txBody>
          <a:bodyPr wrap="square" lIns="0" rIns="0" tIns="0" bIns="0">
            <a:spAutoFit/>
          </a:bodyPr>
          <a:lstStyle/>
          <a:p>
            <a:pPr algn="l"/>
            <a:r>
              <a:rPr sz="2300" b="1" i="0">
                <a:solidFill>
                  <a:srgbClr val="0F172A"/>
                </a:solidFill>
                <a:latin typeface="Segoe UI"/>
              </a:rPr>
              <a:t>Data-Driven Beachhead: Ghana's Top 3 High-Traffic Corridors</a:t>
            </a:r>
          </a:p>
        </p:txBody>
      </p:sp>
      <p:sp>
        <p:nvSpPr>
          <p:cNvPr id="11" name="Rounded Rectangle 10"/>
          <p:cNvSpPr/>
          <p:nvPr/>
        </p:nvSpPr>
        <p:spPr>
          <a:xfrm>
            <a:off x="11018520" y="164592"/>
            <a:ext cx="804672" cy="804672"/>
          </a:xfrm>
          <a:prstGeom prst="roundRect">
            <a:avLst>
              <a:gd name="adj" fmla="val 15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wan_logo_square_white_bg.png"/>
          <p:cNvPicPr>
            <a:picLocks noChangeAspect="1"/>
          </p:cNvPicPr>
          <p:nvPr/>
        </p:nvPicPr>
        <p:blipFill>
          <a:blip r:embed="rId2"/>
          <a:stretch>
            <a:fillRect/>
          </a:stretch>
        </p:blipFill>
        <p:spPr>
          <a:xfrm>
            <a:off x="11064240" y="210312"/>
            <a:ext cx="713232" cy="713232"/>
          </a:xfrm>
          <a:prstGeom prst="rect">
            <a:avLst/>
          </a:prstGeom>
        </p:spPr>
      </p:pic>
      <p:sp>
        <p:nvSpPr>
          <p:cNvPr id="13" name="Rounded Rectangle 12"/>
          <p:cNvSpPr/>
          <p:nvPr/>
        </p:nvSpPr>
        <p:spPr>
          <a:xfrm>
            <a:off x="548640" y="1280160"/>
            <a:ext cx="11091672" cy="411480"/>
          </a:xfrm>
          <a:prstGeom prst="roundRect">
            <a:avLst>
              <a:gd name="adj" fmla="val 8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362456"/>
            <a:ext cx="10689336" cy="246888"/>
          </a:xfrm>
          <a:prstGeom prst="rect">
            <a:avLst/>
          </a:prstGeom>
          <a:noFill/>
        </p:spPr>
        <p:txBody>
          <a:bodyPr wrap="square" lIns="0" rIns="0" tIns="0" bIns="0">
            <a:spAutoFit/>
          </a:bodyPr>
          <a:lstStyle/>
          <a:p>
            <a:pPr algn="l"/>
            <a:r>
              <a:rPr sz="1100" b="1" i="0">
                <a:solidFill>
                  <a:srgbClr val="B45309"/>
                </a:solidFill>
                <a:latin typeface="Segoe UI"/>
              </a:rPr>
              <a:t>📍 DATA-DRIVEN PILOT SELECTION: Grounded in official Ghana Tourism Authority visitor traffic data. Focused density over thin expansion.</a:t>
            </a:r>
          </a:p>
        </p:txBody>
      </p:sp>
      <p:sp>
        <p:nvSpPr>
          <p:cNvPr id="15" name="Rounded Rectangle 14"/>
          <p:cNvSpPr/>
          <p:nvPr/>
        </p:nvSpPr>
        <p:spPr>
          <a:xfrm>
            <a:off x="548640" y="1874519"/>
            <a:ext cx="3493008"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874519"/>
            <a:ext cx="3493008"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2057400"/>
            <a:ext cx="3127248" cy="256032"/>
          </a:xfrm>
          <a:prstGeom prst="roundRect">
            <a:avLst>
              <a:gd name="adj" fmla="val 50000"/>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075688"/>
            <a:ext cx="3127248" cy="219456"/>
          </a:xfrm>
          <a:prstGeom prst="rect">
            <a:avLst/>
          </a:prstGeom>
          <a:noFill/>
        </p:spPr>
        <p:txBody>
          <a:bodyPr wrap="square" lIns="0" rIns="0" tIns="0" bIns="0">
            <a:spAutoFit/>
          </a:bodyPr>
          <a:lstStyle/>
          <a:p>
            <a:pPr algn="ctr"/>
            <a:r>
              <a:rPr sz="850" b="1" i="0">
                <a:solidFill>
                  <a:srgbClr val="B45309"/>
                </a:solidFill>
                <a:latin typeface="Segoe UI"/>
              </a:rPr>
              <a:t>CORRIDOR 1 · DOWNTOWN ACCRA</a:t>
            </a:r>
          </a:p>
        </p:txBody>
      </p:sp>
      <p:sp>
        <p:nvSpPr>
          <p:cNvPr id="19" name="TextBox 18"/>
          <p:cNvSpPr txBox="1"/>
          <p:nvPr/>
        </p:nvSpPr>
        <p:spPr>
          <a:xfrm>
            <a:off x="731520" y="2395728"/>
            <a:ext cx="3127248" cy="320040"/>
          </a:xfrm>
          <a:prstGeom prst="rect">
            <a:avLst/>
          </a:prstGeom>
          <a:noFill/>
        </p:spPr>
        <p:txBody>
          <a:bodyPr wrap="square" lIns="0" rIns="0" tIns="0" bIns="0">
            <a:spAutoFit/>
          </a:bodyPr>
          <a:lstStyle/>
          <a:p>
            <a:pPr algn="l"/>
            <a:r>
              <a:rPr sz="1500" b="1" i="0">
                <a:solidFill>
                  <a:srgbClr val="0F172A"/>
                </a:solidFill>
                <a:latin typeface="Segoe UI"/>
              </a:rPr>
              <a:t>Kwame Nkrumah Memorial Park</a:t>
            </a:r>
          </a:p>
        </p:txBody>
      </p:sp>
      <p:sp>
        <p:nvSpPr>
          <p:cNvPr id="20" name="Rounded Rectangle 19"/>
          <p:cNvSpPr/>
          <p:nvPr/>
        </p:nvSpPr>
        <p:spPr>
          <a:xfrm>
            <a:off x="731520" y="2761488"/>
            <a:ext cx="3127248" cy="640080"/>
          </a:xfrm>
          <a:prstGeom prst="roundRect">
            <a:avLst>
              <a:gd name="adj" fmla="val 6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2816352"/>
            <a:ext cx="2944368" cy="292608"/>
          </a:xfrm>
          <a:prstGeom prst="rect">
            <a:avLst/>
          </a:prstGeom>
          <a:noFill/>
        </p:spPr>
        <p:txBody>
          <a:bodyPr wrap="square" lIns="0" rIns="0" tIns="0" bIns="0">
            <a:spAutoFit/>
          </a:bodyPr>
          <a:lstStyle/>
          <a:p>
            <a:pPr algn="l"/>
            <a:r>
              <a:rPr sz="1350" b="1" i="0">
                <a:solidFill>
                  <a:srgbClr val="B45309"/>
                </a:solidFill>
                <a:latin typeface="Segoe UI"/>
              </a:rPr>
              <a:t>#1 Attraction in Ghana</a:t>
            </a:r>
          </a:p>
        </p:txBody>
      </p:sp>
      <p:sp>
        <p:nvSpPr>
          <p:cNvPr id="22" name="TextBox 21"/>
          <p:cNvSpPr txBox="1"/>
          <p:nvPr/>
        </p:nvSpPr>
        <p:spPr>
          <a:xfrm>
            <a:off x="822959" y="3108960"/>
            <a:ext cx="2944368" cy="219456"/>
          </a:xfrm>
          <a:prstGeom prst="rect">
            <a:avLst/>
          </a:prstGeom>
          <a:noFill/>
        </p:spPr>
        <p:txBody>
          <a:bodyPr wrap="square" lIns="0" rIns="0" tIns="0" bIns="0">
            <a:spAutoFit/>
          </a:bodyPr>
          <a:lstStyle/>
          <a:p>
            <a:pPr algn="l"/>
            <a:r>
              <a:rPr sz="1000" b="1" i="0">
                <a:solidFill>
                  <a:srgbClr val="0F172A"/>
                </a:solidFill>
                <a:latin typeface="Segoe UI"/>
              </a:rPr>
              <a:t>1.38M Visitors in 2024 (GTA)</a:t>
            </a:r>
          </a:p>
        </p:txBody>
      </p:sp>
      <p:sp>
        <p:nvSpPr>
          <p:cNvPr id="23" name="Rectangle 22"/>
          <p:cNvSpPr/>
          <p:nvPr/>
        </p:nvSpPr>
        <p:spPr>
          <a:xfrm>
            <a:off x="731520" y="3547872"/>
            <a:ext cx="312724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675887"/>
            <a:ext cx="3127248" cy="2194560"/>
          </a:xfrm>
          <a:prstGeom prst="rect">
            <a:avLst/>
          </a:prstGeom>
          <a:noFill/>
        </p:spPr>
        <p:txBody>
          <a:bodyPr wrap="square" lIns="0" rIns="0" tIns="0" bIns="0">
            <a:spAutoFit/>
          </a:bodyPr>
          <a:lstStyle/>
          <a:p>
            <a:pPr algn="l"/>
            <a:r>
              <a:rPr sz="1100" b="0" i="0">
                <a:solidFill>
                  <a:srgbClr val="334155"/>
                </a:solidFill>
                <a:latin typeface="Segoe UI"/>
              </a:rPr>
              <a:t>•  Downtown heritage walking circuit connecting Memorial Park, Independence Square &amp; Arts Centre.
•  Highest international tourist footfall density in the country.
•  Immediate demand for pre-booked, verified walking narrators.</a:t>
            </a:r>
          </a:p>
        </p:txBody>
      </p:sp>
      <p:sp>
        <p:nvSpPr>
          <p:cNvPr id="25" name="Rounded Rectangle 24"/>
          <p:cNvSpPr/>
          <p:nvPr/>
        </p:nvSpPr>
        <p:spPr>
          <a:xfrm>
            <a:off x="4370831" y="1874519"/>
            <a:ext cx="3493008"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70831" y="1874519"/>
            <a:ext cx="3493008" cy="54864"/>
          </a:xfrm>
          <a:prstGeom prst="rect">
            <a:avLst/>
          </a:prstGeom>
          <a:solidFill>
            <a:srgbClr val="E0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553712" y="2057400"/>
            <a:ext cx="3127248" cy="256032"/>
          </a:xfrm>
          <a:prstGeom prst="roundRect">
            <a:avLst>
              <a:gd name="adj" fmla="val 50000"/>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53712" y="2075688"/>
            <a:ext cx="3127248" cy="219456"/>
          </a:xfrm>
          <a:prstGeom prst="rect">
            <a:avLst/>
          </a:prstGeom>
          <a:noFill/>
        </p:spPr>
        <p:txBody>
          <a:bodyPr wrap="square" lIns="0" rIns="0" tIns="0" bIns="0">
            <a:spAutoFit/>
          </a:bodyPr>
          <a:lstStyle/>
          <a:p>
            <a:pPr algn="ctr"/>
            <a:r>
              <a:rPr sz="850" b="1" i="0">
                <a:solidFill>
                  <a:srgbClr val="C2410C"/>
                </a:solidFill>
                <a:latin typeface="Segoe UI"/>
              </a:rPr>
              <a:t>CORRIDOR 2 · PILOT BEACHHEAD</a:t>
            </a:r>
          </a:p>
        </p:txBody>
      </p:sp>
      <p:sp>
        <p:nvSpPr>
          <p:cNvPr id="29" name="TextBox 28"/>
          <p:cNvSpPr txBox="1"/>
          <p:nvPr/>
        </p:nvSpPr>
        <p:spPr>
          <a:xfrm>
            <a:off x="4553712" y="2395728"/>
            <a:ext cx="3127248" cy="320040"/>
          </a:xfrm>
          <a:prstGeom prst="rect">
            <a:avLst/>
          </a:prstGeom>
          <a:noFill/>
        </p:spPr>
        <p:txBody>
          <a:bodyPr wrap="square" lIns="0" rIns="0" tIns="0" bIns="0">
            <a:spAutoFit/>
          </a:bodyPr>
          <a:lstStyle/>
          <a:p>
            <a:pPr algn="l"/>
            <a:r>
              <a:rPr sz="1500" b="1" i="0">
                <a:solidFill>
                  <a:srgbClr val="0F172A"/>
                </a:solidFill>
                <a:latin typeface="Segoe UI"/>
              </a:rPr>
              <a:t>Ga-Mashie &amp; Jamestown</a:t>
            </a:r>
          </a:p>
        </p:txBody>
      </p:sp>
      <p:sp>
        <p:nvSpPr>
          <p:cNvPr id="30" name="Rounded Rectangle 29"/>
          <p:cNvSpPr/>
          <p:nvPr/>
        </p:nvSpPr>
        <p:spPr>
          <a:xfrm>
            <a:off x="4553712" y="2761488"/>
            <a:ext cx="3127248" cy="640080"/>
          </a:xfrm>
          <a:prstGeom prst="roundRect">
            <a:avLst>
              <a:gd name="adj" fmla="val 6000"/>
            </a:avLst>
          </a:prstGeom>
          <a:solidFill>
            <a:srgbClr val="FFF7ED"/>
          </a:solidFill>
          <a:ln w="9525">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45151" y="2816352"/>
            <a:ext cx="2944368" cy="292608"/>
          </a:xfrm>
          <a:prstGeom prst="rect">
            <a:avLst/>
          </a:prstGeom>
          <a:noFill/>
        </p:spPr>
        <p:txBody>
          <a:bodyPr wrap="square" lIns="0" rIns="0" tIns="0" bIns="0">
            <a:spAutoFit/>
          </a:bodyPr>
          <a:lstStyle/>
          <a:p>
            <a:pPr algn="l"/>
            <a:r>
              <a:rPr sz="1350" b="1" i="0">
                <a:solidFill>
                  <a:srgbClr val="C2410C"/>
                </a:solidFill>
                <a:latin typeface="Segoe UI"/>
              </a:rPr>
              <a:t>150+ Mapped Artisans</a:t>
            </a:r>
          </a:p>
        </p:txBody>
      </p:sp>
      <p:sp>
        <p:nvSpPr>
          <p:cNvPr id="32" name="TextBox 31"/>
          <p:cNvSpPr txBox="1"/>
          <p:nvPr/>
        </p:nvSpPr>
        <p:spPr>
          <a:xfrm>
            <a:off x="4645151" y="3108960"/>
            <a:ext cx="2944368" cy="219456"/>
          </a:xfrm>
          <a:prstGeom prst="rect">
            <a:avLst/>
          </a:prstGeom>
          <a:noFill/>
        </p:spPr>
        <p:txBody>
          <a:bodyPr wrap="square" lIns="0" rIns="0" tIns="0" bIns="0">
            <a:spAutoFit/>
          </a:bodyPr>
          <a:lstStyle/>
          <a:p>
            <a:pPr algn="l"/>
            <a:r>
              <a:rPr sz="1000" b="1" i="0">
                <a:solidFill>
                  <a:srgbClr val="0F172A"/>
                </a:solidFill>
                <a:latin typeface="Segoe UI"/>
              </a:rPr>
              <a:t>Active Heritage Guild Pipeline</a:t>
            </a:r>
          </a:p>
        </p:txBody>
      </p:sp>
      <p:sp>
        <p:nvSpPr>
          <p:cNvPr id="33" name="Rectangle 32"/>
          <p:cNvSpPr/>
          <p:nvPr/>
        </p:nvSpPr>
        <p:spPr>
          <a:xfrm>
            <a:off x="4553712" y="3547872"/>
            <a:ext cx="312724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53712" y="3675887"/>
            <a:ext cx="3127248" cy="2194560"/>
          </a:xfrm>
          <a:prstGeom prst="rect">
            <a:avLst/>
          </a:prstGeom>
          <a:noFill/>
        </p:spPr>
        <p:txBody>
          <a:bodyPr wrap="square" lIns="0" rIns="0" tIns="0" bIns="0">
            <a:spAutoFit/>
          </a:bodyPr>
          <a:lstStyle/>
          <a:p>
            <a:pPr algn="l"/>
            <a:r>
              <a:rPr sz="1100" b="0" i="0">
                <a:solidFill>
                  <a:srgbClr val="334155"/>
                </a:solidFill>
                <a:latin typeface="Segoe UI"/>
              </a:rPr>
              <a:t>•  World-famous Bukom boxing gyms, colonial lighthouse &amp; street food culture.
•  Deep community trust with the Ga-Mashie Heritage Guild representing 150+ artisans.
•  High authentic appeal for diaspora travelers seeking living roots.</a:t>
            </a:r>
          </a:p>
        </p:txBody>
      </p:sp>
      <p:sp>
        <p:nvSpPr>
          <p:cNvPr id="35" name="Rounded Rectangle 34"/>
          <p:cNvSpPr/>
          <p:nvPr/>
        </p:nvSpPr>
        <p:spPr>
          <a:xfrm>
            <a:off x="8193023" y="1874519"/>
            <a:ext cx="3493008"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93023" y="1874519"/>
            <a:ext cx="3493008"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75903" y="2057400"/>
            <a:ext cx="3127248" cy="256032"/>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75903" y="2075688"/>
            <a:ext cx="3127248" cy="219456"/>
          </a:xfrm>
          <a:prstGeom prst="rect">
            <a:avLst/>
          </a:prstGeom>
          <a:noFill/>
        </p:spPr>
        <p:txBody>
          <a:bodyPr wrap="square" lIns="0" rIns="0" tIns="0" bIns="0">
            <a:spAutoFit/>
          </a:bodyPr>
          <a:lstStyle/>
          <a:p>
            <a:pPr algn="ctr"/>
            <a:r>
              <a:rPr sz="850" b="1" i="0">
                <a:solidFill>
                  <a:srgbClr val="047857"/>
                </a:solidFill>
                <a:latin typeface="Segoe UI"/>
              </a:rPr>
              <a:t>CORRIDOR 3 · CRAFT &amp; NATURE</a:t>
            </a:r>
          </a:p>
        </p:txBody>
      </p:sp>
      <p:sp>
        <p:nvSpPr>
          <p:cNvPr id="39" name="TextBox 38"/>
          <p:cNvSpPr txBox="1"/>
          <p:nvPr/>
        </p:nvSpPr>
        <p:spPr>
          <a:xfrm>
            <a:off x="8375903" y="2395728"/>
            <a:ext cx="3127248" cy="320040"/>
          </a:xfrm>
          <a:prstGeom prst="rect">
            <a:avLst/>
          </a:prstGeom>
          <a:noFill/>
        </p:spPr>
        <p:txBody>
          <a:bodyPr wrap="square" lIns="0" rIns="0" tIns="0" bIns="0">
            <a:spAutoFit/>
          </a:bodyPr>
          <a:lstStyle/>
          <a:p>
            <a:pPr algn="l"/>
            <a:r>
              <a:rPr sz="1500" b="1" i="0">
                <a:solidFill>
                  <a:srgbClr val="0F172A"/>
                </a:solidFill>
                <a:latin typeface="Segoe UI"/>
              </a:rPr>
              <a:t>Aburi &amp; Achimota Heritage</a:t>
            </a:r>
          </a:p>
        </p:txBody>
      </p:sp>
      <p:sp>
        <p:nvSpPr>
          <p:cNvPr id="40" name="Rounded Rectangle 39"/>
          <p:cNvSpPr/>
          <p:nvPr/>
        </p:nvSpPr>
        <p:spPr>
          <a:xfrm>
            <a:off x="8375903" y="2761488"/>
            <a:ext cx="3127248" cy="640080"/>
          </a:xfrm>
          <a:prstGeom prst="roundRect">
            <a:avLst>
              <a:gd name="adj" fmla="val 6000"/>
            </a:avLst>
          </a:prstGeom>
          <a:solidFill>
            <a:srgbClr val="ECFDF5"/>
          </a:solidFill>
          <a:ln w="95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67344" y="2816352"/>
            <a:ext cx="2944368" cy="292608"/>
          </a:xfrm>
          <a:prstGeom prst="rect">
            <a:avLst/>
          </a:prstGeom>
          <a:noFill/>
        </p:spPr>
        <p:txBody>
          <a:bodyPr wrap="square" lIns="0" rIns="0" tIns="0" bIns="0">
            <a:spAutoFit/>
          </a:bodyPr>
          <a:lstStyle/>
          <a:p>
            <a:pPr algn="l"/>
            <a:r>
              <a:rPr sz="1350" b="1" i="0">
                <a:solidFill>
                  <a:srgbClr val="047857"/>
                </a:solidFill>
                <a:latin typeface="Segoe UI"/>
              </a:rPr>
              <a:t>Master Woodcarver Hub</a:t>
            </a:r>
          </a:p>
        </p:txBody>
      </p:sp>
      <p:sp>
        <p:nvSpPr>
          <p:cNvPr id="42" name="TextBox 41"/>
          <p:cNvSpPr txBox="1"/>
          <p:nvPr/>
        </p:nvSpPr>
        <p:spPr>
          <a:xfrm>
            <a:off x="8467344" y="3108960"/>
            <a:ext cx="2944368" cy="219456"/>
          </a:xfrm>
          <a:prstGeom prst="rect">
            <a:avLst/>
          </a:prstGeom>
          <a:noFill/>
        </p:spPr>
        <p:txBody>
          <a:bodyPr wrap="square" lIns="0" rIns="0" tIns="0" bIns="0">
            <a:spAutoFit/>
          </a:bodyPr>
          <a:lstStyle/>
          <a:p>
            <a:pPr algn="l"/>
            <a:r>
              <a:rPr sz="1000" b="1" i="0">
                <a:solidFill>
                  <a:srgbClr val="0F172A"/>
                </a:solidFill>
                <a:latin typeface="Segoe UI"/>
              </a:rPr>
              <a:t>Sacred Stool &amp; Nature Enclave</a:t>
            </a:r>
          </a:p>
        </p:txBody>
      </p:sp>
      <p:sp>
        <p:nvSpPr>
          <p:cNvPr id="43" name="Rectangle 42"/>
          <p:cNvSpPr/>
          <p:nvPr/>
        </p:nvSpPr>
        <p:spPr>
          <a:xfrm>
            <a:off x="8375903" y="3547872"/>
            <a:ext cx="312724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75903" y="3675887"/>
            <a:ext cx="3127248" cy="2194560"/>
          </a:xfrm>
          <a:prstGeom prst="rect">
            <a:avLst/>
          </a:prstGeom>
          <a:noFill/>
        </p:spPr>
        <p:txBody>
          <a:bodyPr wrap="square" lIns="0" rIns="0" tIns="0" bIns="0">
            <a:spAutoFit/>
          </a:bodyPr>
          <a:lstStyle/>
          <a:p>
            <a:pPr algn="l"/>
            <a:r>
              <a:rPr sz="1100" b="0" i="0">
                <a:solidFill>
                  <a:srgbClr val="334155"/>
                </a:solidFill>
                <a:latin typeface="Segoe UI"/>
              </a:rPr>
              <a:t>•  Ghana's traditional stool-carving and cedar woodcraft masterclasses.
•  Eco-tourism corridor: Aburi Botanical Gardens &amp; cocoa farm trails.
•  High average booking value with instant tourist overcharge protection.</a:t>
            </a:r>
          </a:p>
        </p:txBody>
      </p:sp>
      <p:sp>
        <p:nvSpPr>
          <p:cNvPr id="45" name="Rounded Rectangle 44"/>
          <p:cNvSpPr/>
          <p:nvPr/>
        </p:nvSpPr>
        <p:spPr>
          <a:xfrm>
            <a:off x="548640" y="6217920"/>
            <a:ext cx="11091672" cy="420624"/>
          </a:xfrm>
          <a:prstGeom prst="roundRect">
            <a:avLst>
              <a:gd name="adj" fmla="val 1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58368" y="6309359"/>
            <a:ext cx="36576" cy="23774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6300216"/>
            <a:ext cx="10762488" cy="256032"/>
          </a:xfrm>
          <a:prstGeom prst="rect">
            <a:avLst/>
          </a:prstGeom>
          <a:noFill/>
        </p:spPr>
        <p:txBody>
          <a:bodyPr wrap="square" lIns="0" rIns="0" tIns="0" bIns="0">
            <a:spAutoFit/>
          </a:bodyPr>
          <a:lstStyle/>
          <a:p>
            <a:pPr algn="l"/>
            <a:r>
              <a:rPr sz="1050" b="1" i="0">
                <a:solidFill>
                  <a:srgbClr val="F5A623"/>
                </a:solidFill>
                <a:latin typeface="Segoe UI"/>
              </a:rPr>
              <a:t>🎯 PILOT DISCIPLINE: High host density + verified foot traffic = zero wasted expansion. We dominate Accra first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1143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143000"/>
            <a:ext cx="1219169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143000"/>
            <a:ext cx="2926080" cy="3200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
            <a:ext cx="402336" cy="237744"/>
          </a:xfrm>
          <a:prstGeom prst="roundRect">
            <a:avLst>
              <a:gd name="adj" fmla="val 5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79"/>
            <a:ext cx="402336" cy="201168"/>
          </a:xfrm>
          <a:prstGeom prst="rect">
            <a:avLst/>
          </a:prstGeom>
          <a:noFill/>
        </p:spPr>
        <p:txBody>
          <a:bodyPr wrap="square" lIns="0" rIns="0" tIns="0" bIns="0">
            <a:spAutoFit/>
          </a:bodyPr>
          <a:lstStyle/>
          <a:p>
            <a:pPr algn="ctr"/>
            <a:r>
              <a:rPr sz="950" b="1" i="0">
                <a:solidFill>
                  <a:srgbClr val="FFFFFF"/>
                </a:solidFill>
                <a:latin typeface="Segoe UI"/>
              </a:rPr>
              <a:t>03</a:t>
            </a:r>
          </a:p>
        </p:txBody>
      </p:sp>
      <p:sp>
        <p:nvSpPr>
          <p:cNvPr id="9" name="TextBox 8"/>
          <p:cNvSpPr txBox="1"/>
          <p:nvPr/>
        </p:nvSpPr>
        <p:spPr>
          <a:xfrm>
            <a:off x="1051560" y="164592"/>
            <a:ext cx="7315200" cy="237744"/>
          </a:xfrm>
          <a:prstGeom prst="rect">
            <a:avLst/>
          </a:prstGeom>
          <a:noFill/>
        </p:spPr>
        <p:txBody>
          <a:bodyPr wrap="square" lIns="0" rIns="0" tIns="0" bIns="0">
            <a:spAutoFit/>
          </a:bodyPr>
          <a:lstStyle/>
          <a:p>
            <a:pPr algn="l"/>
            <a:r>
              <a:rPr sz="1000" b="1" i="0">
                <a:solidFill>
                  <a:srgbClr val="B45309"/>
                </a:solidFill>
                <a:latin typeface="Segoe UI"/>
              </a:rPr>
              <a:t>THE SOLUTION</a:t>
            </a:r>
          </a:p>
        </p:txBody>
      </p:sp>
      <p:sp>
        <p:nvSpPr>
          <p:cNvPr id="10" name="TextBox 9"/>
          <p:cNvSpPr txBox="1"/>
          <p:nvPr/>
        </p:nvSpPr>
        <p:spPr>
          <a:xfrm>
            <a:off x="548640" y="438912"/>
            <a:ext cx="10241280" cy="640080"/>
          </a:xfrm>
          <a:prstGeom prst="rect">
            <a:avLst/>
          </a:prstGeom>
          <a:noFill/>
        </p:spPr>
        <p:txBody>
          <a:bodyPr wrap="square" lIns="0" rIns="0" tIns="0" bIns="0">
            <a:spAutoFit/>
          </a:bodyPr>
          <a:lstStyle/>
          <a:p>
            <a:pPr algn="l"/>
            <a:r>
              <a:rPr sz="2300" b="1" i="0">
                <a:solidFill>
                  <a:srgbClr val="0F172A"/>
                </a:solidFill>
                <a:latin typeface="Segoe UI"/>
              </a:rPr>
              <a:t>How Kwan Works: The 4-Step Card-to-Mobile-Money Escrow Engine</a:t>
            </a:r>
          </a:p>
        </p:txBody>
      </p:sp>
      <p:sp>
        <p:nvSpPr>
          <p:cNvPr id="11" name="Rounded Rectangle 10"/>
          <p:cNvSpPr/>
          <p:nvPr/>
        </p:nvSpPr>
        <p:spPr>
          <a:xfrm>
            <a:off x="11018520" y="164592"/>
            <a:ext cx="804672" cy="804672"/>
          </a:xfrm>
          <a:prstGeom prst="roundRect">
            <a:avLst>
              <a:gd name="adj" fmla="val 15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wan_logo_square_white_bg.png"/>
          <p:cNvPicPr>
            <a:picLocks noChangeAspect="1"/>
          </p:cNvPicPr>
          <p:nvPr/>
        </p:nvPicPr>
        <p:blipFill>
          <a:blip r:embed="rId2"/>
          <a:stretch>
            <a:fillRect/>
          </a:stretch>
        </p:blipFill>
        <p:spPr>
          <a:xfrm>
            <a:off x="11064240" y="210312"/>
            <a:ext cx="713232" cy="713232"/>
          </a:xfrm>
          <a:prstGeom prst="rect">
            <a:avLst/>
          </a:prstGeom>
        </p:spPr>
      </p:pic>
      <p:sp>
        <p:nvSpPr>
          <p:cNvPr id="13" name="Rounded Rectangle 12"/>
          <p:cNvSpPr/>
          <p:nvPr/>
        </p:nvSpPr>
        <p:spPr>
          <a:xfrm>
            <a:off x="548640" y="1280160"/>
            <a:ext cx="11091672" cy="411480"/>
          </a:xfrm>
          <a:prstGeom prst="roundRect">
            <a:avLst>
              <a:gd name="adj" fmla="val 8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362456"/>
            <a:ext cx="10689336" cy="246888"/>
          </a:xfrm>
          <a:prstGeom prst="rect">
            <a:avLst/>
          </a:prstGeom>
          <a:noFill/>
        </p:spPr>
        <p:txBody>
          <a:bodyPr wrap="square" lIns="0" rIns="0" tIns="0" bIns="0">
            <a:spAutoFit/>
          </a:bodyPr>
          <a:lstStyle/>
          <a:p>
            <a:pPr algn="l"/>
            <a:r>
              <a:rPr sz="1100" b="1" i="0">
                <a:solidFill>
                  <a:srgbClr val="B45309"/>
                </a:solidFill>
                <a:latin typeface="Segoe UI"/>
              </a:rPr>
              <a:t>🔒 THE ESCROW PROMISE: Zero cash risk for travelers. Guaranteed instant Mobile Money payout for grassroots hosts.</a:t>
            </a:r>
          </a:p>
        </p:txBody>
      </p:sp>
      <p:sp>
        <p:nvSpPr>
          <p:cNvPr id="15" name="Rounded Rectangle 14"/>
          <p:cNvSpPr/>
          <p:nvPr/>
        </p:nvSpPr>
        <p:spPr>
          <a:xfrm>
            <a:off x="548640" y="1874519"/>
            <a:ext cx="2624328"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874519"/>
            <a:ext cx="2624328"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057400"/>
            <a:ext cx="2258568" cy="457200"/>
          </a:xfrm>
          <a:prstGeom prst="rect">
            <a:avLst/>
          </a:prstGeom>
          <a:noFill/>
        </p:spPr>
        <p:txBody>
          <a:bodyPr wrap="square" lIns="0" rIns="0" tIns="0" bIns="0">
            <a:spAutoFit/>
          </a:bodyPr>
          <a:lstStyle/>
          <a:p>
            <a:pPr algn="l"/>
            <a:r>
              <a:rPr sz="2800" b="1" i="0">
                <a:solidFill>
                  <a:srgbClr val="B45309"/>
                </a:solidFill>
                <a:latin typeface="Segoe UI"/>
              </a:rPr>
              <a:t>01</a:t>
            </a:r>
          </a:p>
        </p:txBody>
      </p:sp>
      <p:sp>
        <p:nvSpPr>
          <p:cNvPr id="18" name="TextBox 17"/>
          <p:cNvSpPr txBox="1"/>
          <p:nvPr/>
        </p:nvSpPr>
        <p:spPr>
          <a:xfrm>
            <a:off x="731520" y="2560320"/>
            <a:ext cx="2258568" cy="274320"/>
          </a:xfrm>
          <a:prstGeom prst="rect">
            <a:avLst/>
          </a:prstGeom>
          <a:noFill/>
        </p:spPr>
        <p:txBody>
          <a:bodyPr wrap="square" lIns="0" rIns="0" tIns="0" bIns="0">
            <a:spAutoFit/>
          </a:bodyPr>
          <a:lstStyle/>
          <a:p>
            <a:pPr algn="l"/>
            <a:r>
              <a:rPr sz="1300" b="1" i="0">
                <a:solidFill>
                  <a:srgbClr val="0F172A"/>
                </a:solidFill>
                <a:latin typeface="Segoe UI"/>
              </a:rPr>
              <a:t>CARD CHECKOUT</a:t>
            </a:r>
          </a:p>
        </p:txBody>
      </p:sp>
      <p:sp>
        <p:nvSpPr>
          <p:cNvPr id="19" name="TextBox 18"/>
          <p:cNvSpPr txBox="1"/>
          <p:nvPr/>
        </p:nvSpPr>
        <p:spPr>
          <a:xfrm>
            <a:off x="731520" y="2852928"/>
            <a:ext cx="2258568" cy="219456"/>
          </a:xfrm>
          <a:prstGeom prst="rect">
            <a:avLst/>
          </a:prstGeom>
          <a:noFill/>
        </p:spPr>
        <p:txBody>
          <a:bodyPr wrap="square" lIns="0" rIns="0" tIns="0" bIns="0">
            <a:spAutoFit/>
          </a:bodyPr>
          <a:lstStyle/>
          <a:p>
            <a:pPr algn="l"/>
            <a:r>
              <a:rPr sz="1000" b="1" i="0">
                <a:solidFill>
                  <a:srgbClr val="64748B"/>
                </a:solidFill>
                <a:latin typeface="Segoe UI"/>
              </a:rPr>
              <a:t>International Payment</a:t>
            </a:r>
          </a:p>
        </p:txBody>
      </p:sp>
      <p:sp>
        <p:nvSpPr>
          <p:cNvPr id="20" name="Rectangle 19"/>
          <p:cNvSpPr/>
          <p:nvPr/>
        </p:nvSpPr>
        <p:spPr>
          <a:xfrm>
            <a:off x="731520" y="3127248"/>
            <a:ext cx="225856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291840"/>
            <a:ext cx="2258568" cy="2560320"/>
          </a:xfrm>
          <a:prstGeom prst="rect">
            <a:avLst/>
          </a:prstGeom>
          <a:noFill/>
        </p:spPr>
        <p:txBody>
          <a:bodyPr wrap="square" lIns="0" rIns="0" tIns="0" bIns="0">
            <a:spAutoFit/>
          </a:bodyPr>
          <a:lstStyle/>
          <a:p>
            <a:pPr algn="l"/>
            <a:r>
              <a:rPr sz="1100" b="0" i="0">
                <a:solidFill>
                  <a:srgbClr val="334155"/>
                </a:solidFill>
                <a:latin typeface="Segoe UI"/>
              </a:rPr>
              <a:t>Traveler books online using any Visa, Mastercard, or Apple Pay via Paystack.
Transparent pricing in USD ($) or GHS (₵). Zero surprise buyer surcharges.</a:t>
            </a:r>
          </a:p>
        </p:txBody>
      </p:sp>
      <p:sp>
        <p:nvSpPr>
          <p:cNvPr id="22" name="Rounded Rectangle 21"/>
          <p:cNvSpPr/>
          <p:nvPr/>
        </p:nvSpPr>
        <p:spPr>
          <a:xfrm>
            <a:off x="3392424" y="1874519"/>
            <a:ext cx="2624328"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92424" y="1874519"/>
            <a:ext cx="2624328" cy="54864"/>
          </a:xfrm>
          <a:prstGeom prst="rect">
            <a:avLst/>
          </a:prstGeom>
          <a:solidFill>
            <a:srgbClr val="E0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75304" y="2057400"/>
            <a:ext cx="2258568" cy="457200"/>
          </a:xfrm>
          <a:prstGeom prst="rect">
            <a:avLst/>
          </a:prstGeom>
          <a:noFill/>
        </p:spPr>
        <p:txBody>
          <a:bodyPr wrap="square" lIns="0" rIns="0" tIns="0" bIns="0">
            <a:spAutoFit/>
          </a:bodyPr>
          <a:lstStyle/>
          <a:p>
            <a:pPr algn="l"/>
            <a:r>
              <a:rPr sz="2800" b="1" i="0">
                <a:solidFill>
                  <a:srgbClr val="C2410C"/>
                </a:solidFill>
                <a:latin typeface="Segoe UI"/>
              </a:rPr>
              <a:t>02</a:t>
            </a:r>
          </a:p>
        </p:txBody>
      </p:sp>
      <p:sp>
        <p:nvSpPr>
          <p:cNvPr id="25" name="TextBox 24"/>
          <p:cNvSpPr txBox="1"/>
          <p:nvPr/>
        </p:nvSpPr>
        <p:spPr>
          <a:xfrm>
            <a:off x="3575304" y="2560320"/>
            <a:ext cx="2258568" cy="274320"/>
          </a:xfrm>
          <a:prstGeom prst="rect">
            <a:avLst/>
          </a:prstGeom>
          <a:noFill/>
        </p:spPr>
        <p:txBody>
          <a:bodyPr wrap="square" lIns="0" rIns="0" tIns="0" bIns="0">
            <a:spAutoFit/>
          </a:bodyPr>
          <a:lstStyle/>
          <a:p>
            <a:pPr algn="l"/>
            <a:r>
              <a:rPr sz="1300" b="1" i="0">
                <a:solidFill>
                  <a:srgbClr val="0F172A"/>
                </a:solidFill>
                <a:latin typeface="Segoe UI"/>
              </a:rPr>
              <a:t>ESCROW VAULT</a:t>
            </a:r>
          </a:p>
        </p:txBody>
      </p:sp>
      <p:sp>
        <p:nvSpPr>
          <p:cNvPr id="26" name="TextBox 25"/>
          <p:cNvSpPr txBox="1"/>
          <p:nvPr/>
        </p:nvSpPr>
        <p:spPr>
          <a:xfrm>
            <a:off x="3575304" y="2852928"/>
            <a:ext cx="2258568" cy="219456"/>
          </a:xfrm>
          <a:prstGeom prst="rect">
            <a:avLst/>
          </a:prstGeom>
          <a:noFill/>
        </p:spPr>
        <p:txBody>
          <a:bodyPr wrap="square" lIns="0" rIns="0" tIns="0" bIns="0">
            <a:spAutoFit/>
          </a:bodyPr>
          <a:lstStyle/>
          <a:p>
            <a:pPr algn="l"/>
            <a:r>
              <a:rPr sz="1000" b="1" i="0">
                <a:solidFill>
                  <a:srgbClr val="64748B"/>
                </a:solidFill>
                <a:latin typeface="Segoe UI"/>
              </a:rPr>
              <a:t>Funds Locked Safely</a:t>
            </a:r>
          </a:p>
        </p:txBody>
      </p:sp>
      <p:sp>
        <p:nvSpPr>
          <p:cNvPr id="27" name="Rectangle 26"/>
          <p:cNvSpPr/>
          <p:nvPr/>
        </p:nvSpPr>
        <p:spPr>
          <a:xfrm>
            <a:off x="3575304" y="3127248"/>
            <a:ext cx="225856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75304" y="3291840"/>
            <a:ext cx="2258568" cy="2560320"/>
          </a:xfrm>
          <a:prstGeom prst="rect">
            <a:avLst/>
          </a:prstGeom>
          <a:noFill/>
        </p:spPr>
        <p:txBody>
          <a:bodyPr wrap="square" lIns="0" rIns="0" tIns="0" bIns="0">
            <a:spAutoFit/>
          </a:bodyPr>
          <a:lstStyle/>
          <a:p>
            <a:pPr algn="l"/>
            <a:r>
              <a:rPr sz="1100" b="0" i="0">
                <a:solidFill>
                  <a:srgbClr val="334155"/>
                </a:solidFill>
                <a:latin typeface="Segoe UI"/>
              </a:rPr>
              <a:t>100% of payment is locked in the Kwan Escrow Vault.
Traveler receives a secure 4-digit release PIN via SMS. Host sees funds secured.</a:t>
            </a:r>
          </a:p>
        </p:txBody>
      </p:sp>
      <p:sp>
        <p:nvSpPr>
          <p:cNvPr id="29" name="Rounded Rectangle 28"/>
          <p:cNvSpPr/>
          <p:nvPr/>
        </p:nvSpPr>
        <p:spPr>
          <a:xfrm>
            <a:off x="6236207" y="1874519"/>
            <a:ext cx="2624328"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6207" y="1874519"/>
            <a:ext cx="2624328"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057400"/>
            <a:ext cx="2258568" cy="457200"/>
          </a:xfrm>
          <a:prstGeom prst="rect">
            <a:avLst/>
          </a:prstGeom>
          <a:noFill/>
        </p:spPr>
        <p:txBody>
          <a:bodyPr wrap="square" lIns="0" rIns="0" tIns="0" bIns="0">
            <a:spAutoFit/>
          </a:bodyPr>
          <a:lstStyle/>
          <a:p>
            <a:pPr algn="l"/>
            <a:r>
              <a:rPr sz="2800" b="1" i="0">
                <a:solidFill>
                  <a:srgbClr val="0284C7"/>
                </a:solidFill>
                <a:latin typeface="Segoe UI"/>
              </a:rPr>
              <a:t>03</a:t>
            </a:r>
          </a:p>
        </p:txBody>
      </p:sp>
      <p:sp>
        <p:nvSpPr>
          <p:cNvPr id="32" name="TextBox 31"/>
          <p:cNvSpPr txBox="1"/>
          <p:nvPr/>
        </p:nvSpPr>
        <p:spPr>
          <a:xfrm>
            <a:off x="6419088" y="2560320"/>
            <a:ext cx="2258568" cy="274320"/>
          </a:xfrm>
          <a:prstGeom prst="rect">
            <a:avLst/>
          </a:prstGeom>
          <a:noFill/>
        </p:spPr>
        <p:txBody>
          <a:bodyPr wrap="square" lIns="0" rIns="0" tIns="0" bIns="0">
            <a:spAutoFit/>
          </a:bodyPr>
          <a:lstStyle/>
          <a:p>
            <a:pPr algn="l"/>
            <a:r>
              <a:rPr sz="1300" b="1" i="0">
                <a:solidFill>
                  <a:srgbClr val="0F172A"/>
                </a:solidFill>
                <a:latin typeface="Segoe UI"/>
              </a:rPr>
              <a:t>DELIVER TOUR</a:t>
            </a:r>
          </a:p>
        </p:txBody>
      </p:sp>
      <p:sp>
        <p:nvSpPr>
          <p:cNvPr id="33" name="TextBox 32"/>
          <p:cNvSpPr txBox="1"/>
          <p:nvPr/>
        </p:nvSpPr>
        <p:spPr>
          <a:xfrm>
            <a:off x="6419088" y="2852928"/>
            <a:ext cx="2258568" cy="219456"/>
          </a:xfrm>
          <a:prstGeom prst="rect">
            <a:avLst/>
          </a:prstGeom>
          <a:noFill/>
        </p:spPr>
        <p:txBody>
          <a:bodyPr wrap="square" lIns="0" rIns="0" tIns="0" bIns="0">
            <a:spAutoFit/>
          </a:bodyPr>
          <a:lstStyle/>
          <a:p>
            <a:pPr algn="l"/>
            <a:r>
              <a:rPr sz="1000" b="1" i="0">
                <a:solidFill>
                  <a:srgbClr val="64748B"/>
                </a:solidFill>
                <a:latin typeface="Segoe UI"/>
              </a:rPr>
              <a:t>Experience Concluded</a:t>
            </a:r>
          </a:p>
        </p:txBody>
      </p:sp>
      <p:sp>
        <p:nvSpPr>
          <p:cNvPr id="34" name="Rectangle 33"/>
          <p:cNvSpPr/>
          <p:nvPr/>
        </p:nvSpPr>
        <p:spPr>
          <a:xfrm>
            <a:off x="6419088" y="3127248"/>
            <a:ext cx="225856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19088" y="3291840"/>
            <a:ext cx="2258568" cy="2560320"/>
          </a:xfrm>
          <a:prstGeom prst="rect">
            <a:avLst/>
          </a:prstGeom>
          <a:noFill/>
        </p:spPr>
        <p:txBody>
          <a:bodyPr wrap="square" lIns="0" rIns="0" tIns="0" bIns="0">
            <a:spAutoFit/>
          </a:bodyPr>
          <a:lstStyle/>
          <a:p>
            <a:pPr algn="l"/>
            <a:r>
              <a:rPr sz="1100" b="0" i="0">
                <a:solidFill>
                  <a:srgbClr val="334155"/>
                </a:solidFill>
                <a:latin typeface="Segoe UI"/>
              </a:rPr>
              <a:t>Host conducts the verified cultural tour.
Traveler holds the 4-digit code and presents it to the host only when the tour concludes satisfactorily.</a:t>
            </a:r>
          </a:p>
        </p:txBody>
      </p:sp>
      <p:sp>
        <p:nvSpPr>
          <p:cNvPr id="36" name="Rounded Rectangle 35"/>
          <p:cNvSpPr/>
          <p:nvPr/>
        </p:nvSpPr>
        <p:spPr>
          <a:xfrm>
            <a:off x="9079992" y="1874519"/>
            <a:ext cx="2624328"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79992" y="1874519"/>
            <a:ext cx="2624328"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62872" y="2057400"/>
            <a:ext cx="2258568" cy="457200"/>
          </a:xfrm>
          <a:prstGeom prst="rect">
            <a:avLst/>
          </a:prstGeom>
          <a:noFill/>
        </p:spPr>
        <p:txBody>
          <a:bodyPr wrap="square" lIns="0" rIns="0" tIns="0" bIns="0">
            <a:spAutoFit/>
          </a:bodyPr>
          <a:lstStyle/>
          <a:p>
            <a:pPr algn="l"/>
            <a:r>
              <a:rPr sz="2800" b="1" i="0">
                <a:solidFill>
                  <a:srgbClr val="047857"/>
                </a:solidFill>
                <a:latin typeface="Segoe UI"/>
              </a:rPr>
              <a:t>04</a:t>
            </a:r>
          </a:p>
        </p:txBody>
      </p:sp>
      <p:sp>
        <p:nvSpPr>
          <p:cNvPr id="39" name="TextBox 38"/>
          <p:cNvSpPr txBox="1"/>
          <p:nvPr/>
        </p:nvSpPr>
        <p:spPr>
          <a:xfrm>
            <a:off x="9262872" y="2560320"/>
            <a:ext cx="2258568" cy="274320"/>
          </a:xfrm>
          <a:prstGeom prst="rect">
            <a:avLst/>
          </a:prstGeom>
          <a:noFill/>
        </p:spPr>
        <p:txBody>
          <a:bodyPr wrap="square" lIns="0" rIns="0" tIns="0" bIns="0">
            <a:spAutoFit/>
          </a:bodyPr>
          <a:lstStyle/>
          <a:p>
            <a:pPr algn="l"/>
            <a:r>
              <a:rPr sz="1300" b="1" i="0">
                <a:solidFill>
                  <a:srgbClr val="0F172A"/>
                </a:solidFill>
                <a:latin typeface="Segoe UI"/>
              </a:rPr>
              <a:t>INSTANT MOMO</a:t>
            </a:r>
          </a:p>
        </p:txBody>
      </p:sp>
      <p:sp>
        <p:nvSpPr>
          <p:cNvPr id="40" name="TextBox 39"/>
          <p:cNvSpPr txBox="1"/>
          <p:nvPr/>
        </p:nvSpPr>
        <p:spPr>
          <a:xfrm>
            <a:off x="9262872" y="2852928"/>
            <a:ext cx="2258568" cy="219456"/>
          </a:xfrm>
          <a:prstGeom prst="rect">
            <a:avLst/>
          </a:prstGeom>
          <a:noFill/>
        </p:spPr>
        <p:txBody>
          <a:bodyPr wrap="square" lIns="0" rIns="0" tIns="0" bIns="0">
            <a:spAutoFit/>
          </a:bodyPr>
          <a:lstStyle/>
          <a:p>
            <a:pPr algn="l"/>
            <a:r>
              <a:rPr sz="1000" b="1" i="0">
                <a:solidFill>
                  <a:srgbClr val="64748B"/>
                </a:solidFill>
                <a:latin typeface="Segoe UI"/>
              </a:rPr>
              <a:t>Sub-60s Disbursement</a:t>
            </a:r>
          </a:p>
        </p:txBody>
      </p:sp>
      <p:sp>
        <p:nvSpPr>
          <p:cNvPr id="41" name="Rectangle 40"/>
          <p:cNvSpPr/>
          <p:nvPr/>
        </p:nvSpPr>
        <p:spPr>
          <a:xfrm>
            <a:off x="9262872" y="3127248"/>
            <a:ext cx="225856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62872" y="3291840"/>
            <a:ext cx="2258568" cy="2560320"/>
          </a:xfrm>
          <a:prstGeom prst="rect">
            <a:avLst/>
          </a:prstGeom>
          <a:noFill/>
        </p:spPr>
        <p:txBody>
          <a:bodyPr wrap="square" lIns="0" rIns="0" tIns="0" bIns="0">
            <a:spAutoFit/>
          </a:bodyPr>
          <a:lstStyle/>
          <a:p>
            <a:pPr algn="l"/>
            <a:r>
              <a:rPr sz="1100" b="0" i="0">
                <a:solidFill>
                  <a:srgbClr val="334155"/>
                </a:solidFill>
                <a:latin typeface="Segoe UI"/>
              </a:rPr>
              <a:t>Host enters the 4-digit PIN in their lightweight mobile terminal.
90% of funds land instantly in the host's MTN MoMo or Telecel Cash wallet.</a:t>
            </a:r>
          </a:p>
        </p:txBody>
      </p:sp>
      <p:sp>
        <p:nvSpPr>
          <p:cNvPr id="43" name="Rounded Rectangle 42"/>
          <p:cNvSpPr/>
          <p:nvPr/>
        </p:nvSpPr>
        <p:spPr>
          <a:xfrm>
            <a:off x="548640" y="6217920"/>
            <a:ext cx="11091672" cy="420624"/>
          </a:xfrm>
          <a:prstGeom prst="roundRect">
            <a:avLst>
              <a:gd name="adj" fmla="val 1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58368" y="6309359"/>
            <a:ext cx="36576" cy="23774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8096" y="6300216"/>
            <a:ext cx="10762488" cy="256032"/>
          </a:xfrm>
          <a:prstGeom prst="rect">
            <a:avLst/>
          </a:prstGeom>
          <a:noFill/>
        </p:spPr>
        <p:txBody>
          <a:bodyPr wrap="square" lIns="0" rIns="0" tIns="0" bIns="0">
            <a:spAutoFit/>
          </a:bodyPr>
          <a:lstStyle/>
          <a:p>
            <a:pPr algn="l"/>
            <a:r>
              <a:rPr sz="1050" b="1" i="0">
                <a:solidFill>
                  <a:srgbClr val="F5A623"/>
                </a:solidFill>
                <a:latin typeface="Segoe UI"/>
              </a:rPr>
              <a:t>🛡️ THE ESCROW GUARANTEE: If a tour does not happen, the traveler is refunded. If it succeeds, the host is paid in seconds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1143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143000"/>
            <a:ext cx="1219169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143000"/>
            <a:ext cx="2926080" cy="3200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
            <a:ext cx="402336" cy="237744"/>
          </a:xfrm>
          <a:prstGeom prst="roundRect">
            <a:avLst>
              <a:gd name="adj" fmla="val 5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79"/>
            <a:ext cx="402336" cy="201168"/>
          </a:xfrm>
          <a:prstGeom prst="rect">
            <a:avLst/>
          </a:prstGeom>
          <a:noFill/>
        </p:spPr>
        <p:txBody>
          <a:bodyPr wrap="square" lIns="0" rIns="0" tIns="0" bIns="0">
            <a:spAutoFit/>
          </a:bodyPr>
          <a:lstStyle/>
          <a:p>
            <a:pPr algn="ctr"/>
            <a:r>
              <a:rPr sz="950" b="1" i="0">
                <a:solidFill>
                  <a:srgbClr val="FFFFFF"/>
                </a:solidFill>
                <a:latin typeface="Segoe UI"/>
              </a:rPr>
              <a:t>04</a:t>
            </a:r>
          </a:p>
        </p:txBody>
      </p:sp>
      <p:sp>
        <p:nvSpPr>
          <p:cNvPr id="9" name="TextBox 8"/>
          <p:cNvSpPr txBox="1"/>
          <p:nvPr/>
        </p:nvSpPr>
        <p:spPr>
          <a:xfrm>
            <a:off x="1051560" y="164592"/>
            <a:ext cx="7315200" cy="237744"/>
          </a:xfrm>
          <a:prstGeom prst="rect">
            <a:avLst/>
          </a:prstGeom>
          <a:noFill/>
        </p:spPr>
        <p:txBody>
          <a:bodyPr wrap="square" lIns="0" rIns="0" tIns="0" bIns="0">
            <a:spAutoFit/>
          </a:bodyPr>
          <a:lstStyle/>
          <a:p>
            <a:pPr algn="l"/>
            <a:r>
              <a:rPr sz="1000" b="1" i="0">
                <a:solidFill>
                  <a:srgbClr val="B45309"/>
                </a:solidFill>
                <a:latin typeface="Segoe UI"/>
              </a:rPr>
              <a:t>PRODUCT &amp; AI</a:t>
            </a:r>
          </a:p>
        </p:txBody>
      </p:sp>
      <p:sp>
        <p:nvSpPr>
          <p:cNvPr id="10" name="TextBox 9"/>
          <p:cNvSpPr txBox="1"/>
          <p:nvPr/>
        </p:nvSpPr>
        <p:spPr>
          <a:xfrm>
            <a:off x="548640" y="438912"/>
            <a:ext cx="10241280" cy="640080"/>
          </a:xfrm>
          <a:prstGeom prst="rect">
            <a:avLst/>
          </a:prstGeom>
          <a:noFill/>
        </p:spPr>
        <p:txBody>
          <a:bodyPr wrap="square" lIns="0" rIns="0" tIns="0" bIns="0">
            <a:spAutoFit/>
          </a:bodyPr>
          <a:lstStyle/>
          <a:p>
            <a:pPr algn="l"/>
            <a:r>
              <a:rPr sz="2300" b="1" i="0">
                <a:solidFill>
                  <a:srgbClr val="0F172A"/>
                </a:solidFill>
                <a:latin typeface="Segoe UI"/>
              </a:rPr>
              <a:t>A Focused Product Built for Trust</a:t>
            </a:r>
          </a:p>
        </p:txBody>
      </p:sp>
      <p:sp>
        <p:nvSpPr>
          <p:cNvPr id="11" name="Rounded Rectangle 10"/>
          <p:cNvSpPr/>
          <p:nvPr/>
        </p:nvSpPr>
        <p:spPr>
          <a:xfrm>
            <a:off x="11018520" y="164592"/>
            <a:ext cx="804672" cy="804672"/>
          </a:xfrm>
          <a:prstGeom prst="roundRect">
            <a:avLst>
              <a:gd name="adj" fmla="val 15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wan_logo_square_white_bg.png"/>
          <p:cNvPicPr>
            <a:picLocks noChangeAspect="1"/>
          </p:cNvPicPr>
          <p:nvPr/>
        </p:nvPicPr>
        <p:blipFill>
          <a:blip r:embed="rId2"/>
          <a:stretch>
            <a:fillRect/>
          </a:stretch>
        </p:blipFill>
        <p:spPr>
          <a:xfrm>
            <a:off x="11064240" y="210312"/>
            <a:ext cx="713232" cy="713232"/>
          </a:xfrm>
          <a:prstGeom prst="rect">
            <a:avLst/>
          </a:prstGeom>
        </p:spPr>
      </p:pic>
      <p:sp>
        <p:nvSpPr>
          <p:cNvPr id="13" name="Rounded Rectangle 12"/>
          <p:cNvSpPr/>
          <p:nvPr/>
        </p:nvSpPr>
        <p:spPr>
          <a:xfrm>
            <a:off x="548640" y="1280160"/>
            <a:ext cx="11091672" cy="411480"/>
          </a:xfrm>
          <a:prstGeom prst="roundRect">
            <a:avLst>
              <a:gd name="adj" fmla="val 8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362456"/>
            <a:ext cx="10689336" cy="246888"/>
          </a:xfrm>
          <a:prstGeom prst="rect">
            <a:avLst/>
          </a:prstGeom>
          <a:noFill/>
        </p:spPr>
        <p:txBody>
          <a:bodyPr wrap="square" lIns="0" rIns="0" tIns="0" bIns="0">
            <a:spAutoFit/>
          </a:bodyPr>
          <a:lstStyle/>
          <a:p>
            <a:pPr algn="l"/>
            <a:r>
              <a:rPr sz="1100" b="1" i="0">
                <a:solidFill>
                  <a:srgbClr val="B45309"/>
                </a:solidFill>
                <a:latin typeface="Segoe UI"/>
              </a:rPr>
              <a:t>🟢 PROVEN EXECUTION: Not a Figma mockup. A responsive, mobile-first web MVP with a deterministic cultural matching layer tested in the field.</a:t>
            </a:r>
          </a:p>
        </p:txBody>
      </p:sp>
      <p:sp>
        <p:nvSpPr>
          <p:cNvPr id="15" name="Rounded Rectangle 14"/>
          <p:cNvSpPr/>
          <p:nvPr/>
        </p:nvSpPr>
        <p:spPr>
          <a:xfrm>
            <a:off x="548640" y="1874519"/>
            <a:ext cx="5349240"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874519"/>
            <a:ext cx="53492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2057400"/>
            <a:ext cx="2926080" cy="256032"/>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075688"/>
            <a:ext cx="2926080" cy="219456"/>
          </a:xfrm>
          <a:prstGeom prst="rect">
            <a:avLst/>
          </a:prstGeom>
          <a:noFill/>
        </p:spPr>
        <p:txBody>
          <a:bodyPr wrap="square" lIns="0" rIns="0" tIns="0" bIns="0">
            <a:spAutoFit/>
          </a:bodyPr>
          <a:lstStyle/>
          <a:p>
            <a:pPr algn="ctr"/>
            <a:r>
              <a:rPr sz="900" b="1" i="0">
                <a:solidFill>
                  <a:srgbClr val="047857"/>
                </a:solidFill>
                <a:latin typeface="Segoe UI"/>
              </a:rPr>
              <a:t>LIVE WEB PRODUCT · RESPONSIVE AND MOBILE-FIRST</a:t>
            </a:r>
          </a:p>
        </p:txBody>
      </p:sp>
      <p:sp>
        <p:nvSpPr>
          <p:cNvPr id="19" name="TextBox 18"/>
          <p:cNvSpPr txBox="1"/>
          <p:nvPr/>
        </p:nvSpPr>
        <p:spPr>
          <a:xfrm>
            <a:off x="777240" y="2423160"/>
            <a:ext cx="4846320" cy="320040"/>
          </a:xfrm>
          <a:prstGeom prst="rect">
            <a:avLst/>
          </a:prstGeom>
          <a:noFill/>
        </p:spPr>
        <p:txBody>
          <a:bodyPr wrap="square" lIns="0" rIns="0" tIns="0" bIns="0">
            <a:spAutoFit/>
          </a:bodyPr>
          <a:lstStyle/>
          <a:p>
            <a:pPr algn="l"/>
            <a:r>
              <a:rPr sz="1600" b="1" i="0">
                <a:solidFill>
                  <a:srgbClr val="0F172A"/>
                </a:solidFill>
                <a:latin typeface="Segoe UI"/>
              </a:rPr>
              <a:t>The Core Marketplace Engine</a:t>
            </a:r>
          </a:p>
        </p:txBody>
      </p:sp>
      <p:sp>
        <p:nvSpPr>
          <p:cNvPr id="20" name="Rectangle 19"/>
          <p:cNvSpPr/>
          <p:nvPr/>
        </p:nvSpPr>
        <p:spPr>
          <a:xfrm>
            <a:off x="777240" y="2788920"/>
            <a:ext cx="484632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2971800"/>
            <a:ext cx="4892040" cy="621792"/>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063240"/>
            <a:ext cx="4617720" cy="219456"/>
          </a:xfrm>
          <a:prstGeom prst="rect">
            <a:avLst/>
          </a:prstGeom>
          <a:noFill/>
        </p:spPr>
        <p:txBody>
          <a:bodyPr wrap="square" lIns="0" rIns="0" tIns="0" bIns="0">
            <a:spAutoFit/>
          </a:bodyPr>
          <a:lstStyle/>
          <a:p>
            <a:pPr algn="l"/>
            <a:r>
              <a:rPr sz="1150" b="1" i="0">
                <a:solidFill>
                  <a:srgbClr val="0F172A"/>
                </a:solidFill>
                <a:latin typeface="Segoe UI"/>
              </a:rPr>
              <a:t>📱  Dynamic Guest Counters</a:t>
            </a:r>
          </a:p>
        </p:txBody>
      </p:sp>
      <p:sp>
        <p:nvSpPr>
          <p:cNvPr id="23" name="TextBox 22"/>
          <p:cNvSpPr txBox="1"/>
          <p:nvPr/>
        </p:nvSpPr>
        <p:spPr>
          <a:xfrm>
            <a:off x="914400" y="3300984"/>
            <a:ext cx="4617720" cy="237744"/>
          </a:xfrm>
          <a:prstGeom prst="rect">
            <a:avLst/>
          </a:prstGeom>
          <a:noFill/>
        </p:spPr>
        <p:txBody>
          <a:bodyPr wrap="square" lIns="0" rIns="0" tIns="0" bIns="0">
            <a:spAutoFit/>
          </a:bodyPr>
          <a:lstStyle/>
          <a:p>
            <a:pPr algn="l"/>
            <a:r>
              <a:rPr sz="1000" b="0" i="0">
                <a:solidFill>
                  <a:srgbClr val="334155"/>
                </a:solidFill>
                <a:latin typeface="Segoe UI"/>
              </a:rPr>
              <a:t>Adult &amp; child tickets with instant group pricing in USD ($) and GHS (₵).</a:t>
            </a:r>
          </a:p>
        </p:txBody>
      </p:sp>
      <p:sp>
        <p:nvSpPr>
          <p:cNvPr id="24" name="Rounded Rectangle 23"/>
          <p:cNvSpPr/>
          <p:nvPr/>
        </p:nvSpPr>
        <p:spPr>
          <a:xfrm>
            <a:off x="777240" y="3685032"/>
            <a:ext cx="4892040" cy="621792"/>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776472"/>
            <a:ext cx="4617720" cy="219456"/>
          </a:xfrm>
          <a:prstGeom prst="rect">
            <a:avLst/>
          </a:prstGeom>
          <a:noFill/>
        </p:spPr>
        <p:txBody>
          <a:bodyPr wrap="square" lIns="0" rIns="0" tIns="0" bIns="0">
            <a:spAutoFit/>
          </a:bodyPr>
          <a:lstStyle/>
          <a:p>
            <a:pPr algn="l"/>
            <a:r>
              <a:rPr sz="1150" b="1" i="0">
                <a:solidFill>
                  <a:srgbClr val="0F172A"/>
                </a:solidFill>
                <a:latin typeface="Segoe UI"/>
              </a:rPr>
              <a:t>🔐  4-Digit PIN &amp; SMS Alerts</a:t>
            </a:r>
          </a:p>
        </p:txBody>
      </p:sp>
      <p:sp>
        <p:nvSpPr>
          <p:cNvPr id="26" name="TextBox 25"/>
          <p:cNvSpPr txBox="1"/>
          <p:nvPr/>
        </p:nvSpPr>
        <p:spPr>
          <a:xfrm>
            <a:off x="914400" y="4014216"/>
            <a:ext cx="4617720" cy="237744"/>
          </a:xfrm>
          <a:prstGeom prst="rect">
            <a:avLst/>
          </a:prstGeom>
          <a:noFill/>
        </p:spPr>
        <p:txBody>
          <a:bodyPr wrap="square" lIns="0" rIns="0" tIns="0" bIns="0">
            <a:spAutoFit/>
          </a:bodyPr>
          <a:lstStyle/>
          <a:p>
            <a:pPr algn="l"/>
            <a:r>
              <a:rPr sz="1000" b="0" i="0">
                <a:solidFill>
                  <a:srgbClr val="334155"/>
                </a:solidFill>
                <a:latin typeface="Segoe UI"/>
              </a:rPr>
              <a:t>Automatic code generation and instant payment dispatch to traveler &amp; host.</a:t>
            </a:r>
          </a:p>
        </p:txBody>
      </p:sp>
      <p:sp>
        <p:nvSpPr>
          <p:cNvPr id="27" name="Rounded Rectangle 26"/>
          <p:cNvSpPr/>
          <p:nvPr/>
        </p:nvSpPr>
        <p:spPr>
          <a:xfrm>
            <a:off x="777240" y="4398264"/>
            <a:ext cx="4892040" cy="621792"/>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4489704"/>
            <a:ext cx="4617720" cy="219456"/>
          </a:xfrm>
          <a:prstGeom prst="rect">
            <a:avLst/>
          </a:prstGeom>
          <a:noFill/>
        </p:spPr>
        <p:txBody>
          <a:bodyPr wrap="square" lIns="0" rIns="0" tIns="0" bIns="0">
            <a:spAutoFit/>
          </a:bodyPr>
          <a:lstStyle/>
          <a:p>
            <a:pPr algn="l"/>
            <a:r>
              <a:rPr sz="1150" b="1" i="0">
                <a:solidFill>
                  <a:srgbClr val="0F172A"/>
                </a:solidFill>
                <a:latin typeface="Segoe UI"/>
              </a:rPr>
              <a:t>⚡  Lightweight Host Terminal</a:t>
            </a:r>
          </a:p>
        </p:txBody>
      </p:sp>
      <p:sp>
        <p:nvSpPr>
          <p:cNvPr id="29" name="TextBox 28"/>
          <p:cNvSpPr txBox="1"/>
          <p:nvPr/>
        </p:nvSpPr>
        <p:spPr>
          <a:xfrm>
            <a:off x="914400" y="4727448"/>
            <a:ext cx="4617720" cy="237744"/>
          </a:xfrm>
          <a:prstGeom prst="rect">
            <a:avLst/>
          </a:prstGeom>
          <a:noFill/>
        </p:spPr>
        <p:txBody>
          <a:bodyPr wrap="square" lIns="0" rIns="0" tIns="0" bIns="0">
            <a:spAutoFit/>
          </a:bodyPr>
          <a:lstStyle/>
          <a:p>
            <a:pPr algn="l"/>
            <a:r>
              <a:rPr sz="1000" b="0" i="0">
                <a:solidFill>
                  <a:srgbClr val="334155"/>
                </a:solidFill>
                <a:latin typeface="Segoe UI"/>
              </a:rPr>
              <a:t>Simple mobile screen where hosts input PIN and receive instant MoMo confirmation.</a:t>
            </a:r>
          </a:p>
        </p:txBody>
      </p:sp>
      <p:sp>
        <p:nvSpPr>
          <p:cNvPr id="30" name="Rounded Rectangle 29"/>
          <p:cNvSpPr/>
          <p:nvPr/>
        </p:nvSpPr>
        <p:spPr>
          <a:xfrm>
            <a:off x="777240" y="5111496"/>
            <a:ext cx="4892040" cy="621792"/>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02936"/>
            <a:ext cx="4617720" cy="219456"/>
          </a:xfrm>
          <a:prstGeom prst="rect">
            <a:avLst/>
          </a:prstGeom>
          <a:noFill/>
        </p:spPr>
        <p:txBody>
          <a:bodyPr wrap="square" lIns="0" rIns="0" tIns="0" bIns="0">
            <a:spAutoFit/>
          </a:bodyPr>
          <a:lstStyle/>
          <a:p>
            <a:pPr algn="l"/>
            <a:r>
              <a:rPr sz="1150" b="1" i="0">
                <a:solidFill>
                  <a:srgbClr val="0F172A"/>
                </a:solidFill>
                <a:latin typeface="Segoe UI"/>
              </a:rPr>
              <a:t>☀️  Outdoor Daylight Mode</a:t>
            </a:r>
          </a:p>
        </p:txBody>
      </p:sp>
      <p:sp>
        <p:nvSpPr>
          <p:cNvPr id="32" name="TextBox 31"/>
          <p:cNvSpPr txBox="1"/>
          <p:nvPr/>
        </p:nvSpPr>
        <p:spPr>
          <a:xfrm>
            <a:off x="914400" y="5440680"/>
            <a:ext cx="4617720" cy="237744"/>
          </a:xfrm>
          <a:prstGeom prst="rect">
            <a:avLst/>
          </a:prstGeom>
          <a:noFill/>
        </p:spPr>
        <p:txBody>
          <a:bodyPr wrap="square" lIns="0" rIns="0" tIns="0" bIns="0">
            <a:spAutoFit/>
          </a:bodyPr>
          <a:lstStyle/>
          <a:p>
            <a:pPr algn="l"/>
            <a:r>
              <a:rPr sz="1000" b="0" i="0">
                <a:solidFill>
                  <a:srgbClr val="334155"/>
                </a:solidFill>
                <a:latin typeface="Segoe UI"/>
              </a:rPr>
              <a:t>High-contrast display mode engineered for bright African tropical sunlight.</a:t>
            </a:r>
          </a:p>
        </p:txBody>
      </p:sp>
      <p:sp>
        <p:nvSpPr>
          <p:cNvPr id="33" name="Rounded Rectangle 32"/>
          <p:cNvSpPr/>
          <p:nvPr/>
        </p:nvSpPr>
        <p:spPr>
          <a:xfrm>
            <a:off x="6263640" y="1874519"/>
            <a:ext cx="5349240"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63640" y="1874519"/>
            <a:ext cx="534924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92240" y="2057400"/>
            <a:ext cx="2926080" cy="256032"/>
          </a:xfrm>
          <a:prstGeom prst="roundRect">
            <a:avLst>
              <a:gd name="adj" fmla="val 50000"/>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2075688"/>
            <a:ext cx="2926080" cy="219456"/>
          </a:xfrm>
          <a:prstGeom prst="rect">
            <a:avLst/>
          </a:prstGeom>
          <a:noFill/>
        </p:spPr>
        <p:txBody>
          <a:bodyPr wrap="square" lIns="0" rIns="0" tIns="0" bIns="0">
            <a:spAutoFit/>
          </a:bodyPr>
          <a:lstStyle/>
          <a:p>
            <a:pPr algn="ctr"/>
            <a:r>
              <a:rPr sz="900" b="1" i="0">
                <a:solidFill>
                  <a:srgbClr val="B45309"/>
                </a:solidFill>
                <a:latin typeface="Segoe UI"/>
              </a:rPr>
              <a:t>POWERED BY GEMINI 1.5 FLASH</a:t>
            </a:r>
          </a:p>
        </p:txBody>
      </p:sp>
      <p:sp>
        <p:nvSpPr>
          <p:cNvPr id="37" name="TextBox 36"/>
          <p:cNvSpPr txBox="1"/>
          <p:nvPr/>
        </p:nvSpPr>
        <p:spPr>
          <a:xfrm>
            <a:off x="6492240" y="2423160"/>
            <a:ext cx="4846320" cy="320040"/>
          </a:xfrm>
          <a:prstGeom prst="rect">
            <a:avLst/>
          </a:prstGeom>
          <a:noFill/>
        </p:spPr>
        <p:txBody>
          <a:bodyPr wrap="square" lIns="0" rIns="0" tIns="0" bIns="0">
            <a:spAutoFit/>
          </a:bodyPr>
          <a:lstStyle/>
          <a:p>
            <a:pPr algn="l"/>
            <a:r>
              <a:rPr sz="1600" b="1" i="0">
                <a:solidFill>
                  <a:srgbClr val="0F172A"/>
                </a:solidFill>
                <a:latin typeface="Segoe UI"/>
              </a:rPr>
              <a:t>Cultural AI Concierge</a:t>
            </a:r>
          </a:p>
        </p:txBody>
      </p:sp>
      <p:sp>
        <p:nvSpPr>
          <p:cNvPr id="38" name="Rectangle 37"/>
          <p:cNvSpPr/>
          <p:nvPr/>
        </p:nvSpPr>
        <p:spPr>
          <a:xfrm>
            <a:off x="6492240" y="2788920"/>
            <a:ext cx="484632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492240" y="2971800"/>
            <a:ext cx="4892040" cy="621792"/>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3063240"/>
            <a:ext cx="4617720" cy="219456"/>
          </a:xfrm>
          <a:prstGeom prst="rect">
            <a:avLst/>
          </a:prstGeom>
          <a:noFill/>
        </p:spPr>
        <p:txBody>
          <a:bodyPr wrap="square" lIns="0" rIns="0" tIns="0" bIns="0">
            <a:spAutoFit/>
          </a:bodyPr>
          <a:lstStyle/>
          <a:p>
            <a:pPr algn="l"/>
            <a:r>
              <a:rPr sz="1150" b="1" i="0">
                <a:solidFill>
                  <a:srgbClr val="0F172A"/>
                </a:solidFill>
                <a:latin typeface="Segoe UI"/>
              </a:rPr>
              <a:t>🗣️  Dialect &amp; Pronunciation Coach</a:t>
            </a:r>
          </a:p>
        </p:txBody>
      </p:sp>
      <p:sp>
        <p:nvSpPr>
          <p:cNvPr id="41" name="TextBox 40"/>
          <p:cNvSpPr txBox="1"/>
          <p:nvPr/>
        </p:nvSpPr>
        <p:spPr>
          <a:xfrm>
            <a:off x="6629400" y="3300984"/>
            <a:ext cx="4617720" cy="237744"/>
          </a:xfrm>
          <a:prstGeom prst="rect">
            <a:avLst/>
          </a:prstGeom>
          <a:noFill/>
        </p:spPr>
        <p:txBody>
          <a:bodyPr wrap="square" lIns="0" rIns="0" tIns="0" bIns="0">
            <a:spAutoFit/>
          </a:bodyPr>
          <a:lstStyle/>
          <a:p>
            <a:pPr algn="l"/>
            <a:r>
              <a:rPr sz="1000" b="0" i="0">
                <a:solidFill>
                  <a:srgbClr val="334155"/>
                </a:solidFill>
                <a:latin typeface="Segoe UI"/>
              </a:rPr>
              <a:t>Teaches everyday Ga ('Ojekoo') and Twi ('Akwaaba') phrases with phonetic audio tips.</a:t>
            </a:r>
          </a:p>
        </p:txBody>
      </p:sp>
      <p:sp>
        <p:nvSpPr>
          <p:cNvPr id="42" name="Rounded Rectangle 41"/>
          <p:cNvSpPr/>
          <p:nvPr/>
        </p:nvSpPr>
        <p:spPr>
          <a:xfrm>
            <a:off x="6492240" y="3685032"/>
            <a:ext cx="4892040" cy="621792"/>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29400" y="3776472"/>
            <a:ext cx="4617720" cy="219456"/>
          </a:xfrm>
          <a:prstGeom prst="rect">
            <a:avLst/>
          </a:prstGeom>
          <a:noFill/>
        </p:spPr>
        <p:txBody>
          <a:bodyPr wrap="square" lIns="0" rIns="0" tIns="0" bIns="0">
            <a:spAutoFit/>
          </a:bodyPr>
          <a:lstStyle/>
          <a:p>
            <a:pPr algn="l"/>
            <a:r>
              <a:rPr sz="1150" b="1" i="0">
                <a:solidFill>
                  <a:srgbClr val="0F172A"/>
                </a:solidFill>
                <a:latin typeface="Segoe UI"/>
              </a:rPr>
              <a:t>🤝  Compound Etiquette Guide</a:t>
            </a:r>
          </a:p>
        </p:txBody>
      </p:sp>
      <p:sp>
        <p:nvSpPr>
          <p:cNvPr id="44" name="TextBox 43"/>
          <p:cNvSpPr txBox="1"/>
          <p:nvPr/>
        </p:nvSpPr>
        <p:spPr>
          <a:xfrm>
            <a:off x="6629400" y="4014216"/>
            <a:ext cx="4617720" cy="237744"/>
          </a:xfrm>
          <a:prstGeom prst="rect">
            <a:avLst/>
          </a:prstGeom>
          <a:noFill/>
        </p:spPr>
        <p:txBody>
          <a:bodyPr wrap="square" lIns="0" rIns="0" tIns="0" bIns="0">
            <a:spAutoFit/>
          </a:bodyPr>
          <a:lstStyle/>
          <a:p>
            <a:pPr algn="l"/>
            <a:r>
              <a:rPr sz="1000" b="0" i="0">
                <a:solidFill>
                  <a:srgbClr val="334155"/>
                </a:solidFill>
                <a:latin typeface="Segoe UI"/>
              </a:rPr>
              <a:t>Advises travelers on local customs—greeting elders first and right-hand etiquette.</a:t>
            </a:r>
          </a:p>
        </p:txBody>
      </p:sp>
      <p:sp>
        <p:nvSpPr>
          <p:cNvPr id="45" name="Rounded Rectangle 44"/>
          <p:cNvSpPr/>
          <p:nvPr/>
        </p:nvSpPr>
        <p:spPr>
          <a:xfrm>
            <a:off x="6492240" y="4398264"/>
            <a:ext cx="4892040" cy="621792"/>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9400" y="4489704"/>
            <a:ext cx="4617720" cy="219456"/>
          </a:xfrm>
          <a:prstGeom prst="rect">
            <a:avLst/>
          </a:prstGeom>
          <a:noFill/>
        </p:spPr>
        <p:txBody>
          <a:bodyPr wrap="square" lIns="0" rIns="0" tIns="0" bIns="0">
            <a:spAutoFit/>
          </a:bodyPr>
          <a:lstStyle/>
          <a:p>
            <a:pPr algn="l"/>
            <a:r>
              <a:rPr sz="1150" b="1" i="0">
                <a:solidFill>
                  <a:srgbClr val="0F172A"/>
                </a:solidFill>
                <a:latin typeface="Segoe UI"/>
              </a:rPr>
              <a:t>🚐  Trotro Minibus Navigator</a:t>
            </a:r>
          </a:p>
        </p:txBody>
      </p:sp>
      <p:sp>
        <p:nvSpPr>
          <p:cNvPr id="47" name="TextBox 46"/>
          <p:cNvSpPr txBox="1"/>
          <p:nvPr/>
        </p:nvSpPr>
        <p:spPr>
          <a:xfrm>
            <a:off x="6629400" y="4727448"/>
            <a:ext cx="4617720" cy="237744"/>
          </a:xfrm>
          <a:prstGeom prst="rect">
            <a:avLst/>
          </a:prstGeom>
          <a:noFill/>
        </p:spPr>
        <p:txBody>
          <a:bodyPr wrap="square" lIns="0" rIns="0" tIns="0" bIns="0">
            <a:spAutoFit/>
          </a:bodyPr>
          <a:lstStyle/>
          <a:p>
            <a:pPr algn="l"/>
            <a:r>
              <a:rPr sz="1000" b="0" i="0">
                <a:solidFill>
                  <a:srgbClr val="334155"/>
                </a:solidFill>
                <a:latin typeface="Segoe UI"/>
              </a:rPr>
              <a:t>Provides exact trotro routes ('Accra - Jamestown'), fares (₵5.50), and station stops.</a:t>
            </a:r>
          </a:p>
        </p:txBody>
      </p:sp>
      <p:sp>
        <p:nvSpPr>
          <p:cNvPr id="48" name="Rounded Rectangle 47"/>
          <p:cNvSpPr/>
          <p:nvPr/>
        </p:nvSpPr>
        <p:spPr>
          <a:xfrm>
            <a:off x="6492240" y="5111496"/>
            <a:ext cx="4892040" cy="621792"/>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29400" y="5202936"/>
            <a:ext cx="4617720" cy="219456"/>
          </a:xfrm>
          <a:prstGeom prst="rect">
            <a:avLst/>
          </a:prstGeom>
          <a:noFill/>
        </p:spPr>
        <p:txBody>
          <a:bodyPr wrap="square" lIns="0" rIns="0" tIns="0" bIns="0">
            <a:spAutoFit/>
          </a:bodyPr>
          <a:lstStyle/>
          <a:p>
            <a:pPr algn="l"/>
            <a:r>
              <a:rPr sz="1150" b="1" i="0">
                <a:solidFill>
                  <a:srgbClr val="0F172A"/>
                </a:solidFill>
                <a:latin typeface="Segoe UI"/>
              </a:rPr>
              <a:t>🎯  Verified Host Matchmaker</a:t>
            </a:r>
          </a:p>
        </p:txBody>
      </p:sp>
      <p:sp>
        <p:nvSpPr>
          <p:cNvPr id="50" name="TextBox 49"/>
          <p:cNvSpPr txBox="1"/>
          <p:nvPr/>
        </p:nvSpPr>
        <p:spPr>
          <a:xfrm>
            <a:off x="6629400" y="5440680"/>
            <a:ext cx="4617720" cy="237744"/>
          </a:xfrm>
          <a:prstGeom prst="rect">
            <a:avLst/>
          </a:prstGeom>
          <a:noFill/>
        </p:spPr>
        <p:txBody>
          <a:bodyPr wrap="square" lIns="0" rIns="0" tIns="0" bIns="0">
            <a:spAutoFit/>
          </a:bodyPr>
          <a:lstStyle/>
          <a:p>
            <a:pPr algn="l"/>
            <a:r>
              <a:rPr sz="1000" b="0" i="0">
                <a:solidFill>
                  <a:srgbClr val="334155"/>
                </a:solidFill>
                <a:latin typeface="Segoe UI"/>
              </a:rPr>
              <a:t>Matches traveler interests directly to vetted community elders and artisans.</a:t>
            </a:r>
          </a:p>
        </p:txBody>
      </p:sp>
      <p:sp>
        <p:nvSpPr>
          <p:cNvPr id="51" name="Rounded Rectangle 50"/>
          <p:cNvSpPr/>
          <p:nvPr/>
        </p:nvSpPr>
        <p:spPr>
          <a:xfrm>
            <a:off x="548640" y="6217920"/>
            <a:ext cx="11091672" cy="420624"/>
          </a:xfrm>
          <a:prstGeom prst="roundRect">
            <a:avLst>
              <a:gd name="adj" fmla="val 1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58368" y="6309359"/>
            <a:ext cx="36576" cy="23774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68096" y="6300216"/>
            <a:ext cx="10762488" cy="256032"/>
          </a:xfrm>
          <a:prstGeom prst="rect">
            <a:avLst/>
          </a:prstGeom>
          <a:noFill/>
        </p:spPr>
        <p:txBody>
          <a:bodyPr wrap="square" lIns="0" rIns="0" tIns="0" bIns="0">
            <a:spAutoFit/>
          </a:bodyPr>
          <a:lstStyle/>
          <a:p>
            <a:pPr algn="l"/>
            <a:r>
              <a:rPr sz="1050" b="1" i="0">
                <a:solidFill>
                  <a:srgbClr val="F5A623"/>
                </a:solidFill>
                <a:latin typeface="Segoe UI"/>
              </a:rPr>
              <a:t>LIVE PRODUCT: Describe an experience, meet one verified host, and move from discovery to secure payment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1143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143000"/>
            <a:ext cx="1219169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143000"/>
            <a:ext cx="2926080" cy="3200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
            <a:ext cx="402336" cy="237744"/>
          </a:xfrm>
          <a:prstGeom prst="roundRect">
            <a:avLst>
              <a:gd name="adj" fmla="val 5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79"/>
            <a:ext cx="402336" cy="201168"/>
          </a:xfrm>
          <a:prstGeom prst="rect">
            <a:avLst/>
          </a:prstGeom>
          <a:noFill/>
        </p:spPr>
        <p:txBody>
          <a:bodyPr wrap="square" lIns="0" rIns="0" tIns="0" bIns="0">
            <a:spAutoFit/>
          </a:bodyPr>
          <a:lstStyle/>
          <a:p>
            <a:pPr algn="ctr"/>
            <a:r>
              <a:rPr sz="950" b="1" i="0">
                <a:solidFill>
                  <a:srgbClr val="FFFFFF"/>
                </a:solidFill>
                <a:latin typeface="Segoe UI"/>
              </a:rPr>
              <a:t>05</a:t>
            </a:r>
          </a:p>
        </p:txBody>
      </p:sp>
      <p:sp>
        <p:nvSpPr>
          <p:cNvPr id="9" name="TextBox 8"/>
          <p:cNvSpPr txBox="1"/>
          <p:nvPr/>
        </p:nvSpPr>
        <p:spPr>
          <a:xfrm>
            <a:off x="1051560" y="164592"/>
            <a:ext cx="7315200" cy="237744"/>
          </a:xfrm>
          <a:prstGeom prst="rect">
            <a:avLst/>
          </a:prstGeom>
          <a:noFill/>
        </p:spPr>
        <p:txBody>
          <a:bodyPr wrap="square" lIns="0" rIns="0" tIns="0" bIns="0">
            <a:spAutoFit/>
          </a:bodyPr>
          <a:lstStyle/>
          <a:p>
            <a:pPr algn="l"/>
            <a:r>
              <a:rPr sz="1000" b="1" i="0">
                <a:solidFill>
                  <a:srgbClr val="B45309"/>
                </a:solidFill>
                <a:latin typeface="Segoe UI"/>
              </a:rPr>
              <a:t>INNOVATION &amp; MOAT</a:t>
            </a:r>
          </a:p>
        </p:txBody>
      </p:sp>
      <p:sp>
        <p:nvSpPr>
          <p:cNvPr id="10" name="TextBox 9"/>
          <p:cNvSpPr txBox="1"/>
          <p:nvPr/>
        </p:nvSpPr>
        <p:spPr>
          <a:xfrm>
            <a:off x="548640" y="438912"/>
            <a:ext cx="10241280" cy="640080"/>
          </a:xfrm>
          <a:prstGeom prst="rect">
            <a:avLst/>
          </a:prstGeom>
          <a:noFill/>
        </p:spPr>
        <p:txBody>
          <a:bodyPr wrap="square" lIns="0" rIns="0" tIns="0" bIns="0">
            <a:spAutoFit/>
          </a:bodyPr>
          <a:lstStyle/>
          <a:p>
            <a:pPr algn="l"/>
            <a:r>
              <a:rPr sz="2300" b="1" i="0">
                <a:solidFill>
                  <a:srgbClr val="0F172A"/>
                </a:solidFill>
                <a:latin typeface="Segoe UI"/>
              </a:rPr>
              <a:t>Why Global Platforms (Booking.com, Airbnb) Cannot Replicate Kwan</a:t>
            </a:r>
          </a:p>
        </p:txBody>
      </p:sp>
      <p:sp>
        <p:nvSpPr>
          <p:cNvPr id="11" name="Rounded Rectangle 10"/>
          <p:cNvSpPr/>
          <p:nvPr/>
        </p:nvSpPr>
        <p:spPr>
          <a:xfrm>
            <a:off x="11018520" y="164592"/>
            <a:ext cx="804672" cy="804672"/>
          </a:xfrm>
          <a:prstGeom prst="roundRect">
            <a:avLst>
              <a:gd name="adj" fmla="val 15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wan_logo_square_white_bg.png"/>
          <p:cNvPicPr>
            <a:picLocks noChangeAspect="1"/>
          </p:cNvPicPr>
          <p:nvPr/>
        </p:nvPicPr>
        <p:blipFill>
          <a:blip r:embed="rId2"/>
          <a:stretch>
            <a:fillRect/>
          </a:stretch>
        </p:blipFill>
        <p:spPr>
          <a:xfrm>
            <a:off x="11064240" y="210312"/>
            <a:ext cx="713232" cy="713232"/>
          </a:xfrm>
          <a:prstGeom prst="rect">
            <a:avLst/>
          </a:prstGeom>
        </p:spPr>
      </p:pic>
      <p:sp>
        <p:nvSpPr>
          <p:cNvPr id="13" name="Rounded Rectangle 12"/>
          <p:cNvSpPr/>
          <p:nvPr/>
        </p:nvSpPr>
        <p:spPr>
          <a:xfrm>
            <a:off x="548640" y="1280160"/>
            <a:ext cx="11091672" cy="411480"/>
          </a:xfrm>
          <a:prstGeom prst="roundRect">
            <a:avLst>
              <a:gd name="adj" fmla="val 8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362456"/>
            <a:ext cx="10689336" cy="246888"/>
          </a:xfrm>
          <a:prstGeom prst="rect">
            <a:avLst/>
          </a:prstGeom>
          <a:noFill/>
        </p:spPr>
        <p:txBody>
          <a:bodyPr wrap="square" lIns="0" rIns="0" tIns="0" bIns="0">
            <a:spAutoFit/>
          </a:bodyPr>
          <a:lstStyle/>
          <a:p>
            <a:pPr algn="l"/>
            <a:r>
              <a:rPr sz="1100" b="1" i="0">
                <a:solidFill>
                  <a:srgbClr val="B45309"/>
                </a:solidFill>
                <a:latin typeface="Segoe UI"/>
              </a:rPr>
              <a:t>🛡️ THE STRUCTURAL MOAT: Global platforms are trapped in Western banking regulations. African tourism runs on Mobile Money and grassroots trust.</a:t>
            </a:r>
          </a:p>
        </p:txBody>
      </p:sp>
      <p:sp>
        <p:nvSpPr>
          <p:cNvPr id="15" name="Rounded Rectangle 14"/>
          <p:cNvSpPr/>
          <p:nvPr/>
        </p:nvSpPr>
        <p:spPr>
          <a:xfrm>
            <a:off x="548640" y="1874519"/>
            <a:ext cx="3493008"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874519"/>
            <a:ext cx="3493008"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2057400"/>
            <a:ext cx="3127248" cy="256032"/>
          </a:xfrm>
          <a:prstGeom prst="roundRect">
            <a:avLst>
              <a:gd name="adj" fmla="val 50000"/>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075688"/>
            <a:ext cx="3127248" cy="219456"/>
          </a:xfrm>
          <a:prstGeom prst="rect">
            <a:avLst/>
          </a:prstGeom>
          <a:noFill/>
        </p:spPr>
        <p:txBody>
          <a:bodyPr wrap="square" lIns="0" rIns="0" tIns="0" bIns="0">
            <a:spAutoFit/>
          </a:bodyPr>
          <a:lstStyle/>
          <a:p>
            <a:pPr algn="ctr"/>
            <a:r>
              <a:rPr sz="850" b="1" i="0">
                <a:solidFill>
                  <a:srgbClr val="B45309"/>
                </a:solidFill>
                <a:latin typeface="Segoe UI"/>
              </a:rPr>
              <a:t>1. NATIVE MOMO RAILS</a:t>
            </a:r>
          </a:p>
        </p:txBody>
      </p:sp>
      <p:sp>
        <p:nvSpPr>
          <p:cNvPr id="19" name="TextBox 18"/>
          <p:cNvSpPr txBox="1"/>
          <p:nvPr/>
        </p:nvSpPr>
        <p:spPr>
          <a:xfrm>
            <a:off x="731520" y="2423160"/>
            <a:ext cx="3127248" cy="320040"/>
          </a:xfrm>
          <a:prstGeom prst="rect">
            <a:avLst/>
          </a:prstGeom>
          <a:noFill/>
        </p:spPr>
        <p:txBody>
          <a:bodyPr wrap="square" lIns="0" rIns="0" tIns="0" bIns="0">
            <a:spAutoFit/>
          </a:bodyPr>
          <a:lstStyle/>
          <a:p>
            <a:pPr algn="l"/>
            <a:r>
              <a:rPr sz="1500" b="1" i="0">
                <a:solidFill>
                  <a:srgbClr val="0F172A"/>
                </a:solidFill>
                <a:latin typeface="Segoe UI"/>
              </a:rPr>
              <a:t>Mobile Money vs. SWIFT Wires</a:t>
            </a:r>
          </a:p>
        </p:txBody>
      </p:sp>
      <p:sp>
        <p:nvSpPr>
          <p:cNvPr id="20" name="Rectangle 19"/>
          <p:cNvSpPr/>
          <p:nvPr/>
        </p:nvSpPr>
        <p:spPr>
          <a:xfrm>
            <a:off x="731520" y="2834640"/>
            <a:ext cx="312724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971800"/>
            <a:ext cx="3127248" cy="2880360"/>
          </a:xfrm>
          <a:prstGeom prst="rect">
            <a:avLst/>
          </a:prstGeom>
          <a:noFill/>
        </p:spPr>
        <p:txBody>
          <a:bodyPr wrap="square" lIns="0" rIns="0" tIns="0" bIns="0">
            <a:spAutoFit/>
          </a:bodyPr>
          <a:lstStyle/>
          <a:p>
            <a:pPr algn="l"/>
            <a:r>
              <a:rPr sz="1100" b="0" i="0">
                <a:solidFill>
                  <a:srgbClr val="334155"/>
                </a:solidFill>
                <a:latin typeface="Segoe UI"/>
              </a:rPr>
              <a:t>•  Global giants require formal bank accounts (IBAN/SWIFT) with $25 fees and 30-day payment delays.
•  Kwan connects directly to MTN Mobile Money and Telecel Cash for sub-60-second payouts.
•  Compliant digital escrow architecture aligned with Bank of Ghana payment guidelines.</a:t>
            </a:r>
          </a:p>
        </p:txBody>
      </p:sp>
      <p:sp>
        <p:nvSpPr>
          <p:cNvPr id="22" name="Rounded Rectangle 21"/>
          <p:cNvSpPr/>
          <p:nvPr/>
        </p:nvSpPr>
        <p:spPr>
          <a:xfrm>
            <a:off x="4370831" y="1874519"/>
            <a:ext cx="3493008"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1" y="1874519"/>
            <a:ext cx="3493008" cy="54864"/>
          </a:xfrm>
          <a:prstGeom prst="rect">
            <a:avLst/>
          </a:prstGeom>
          <a:solidFill>
            <a:srgbClr val="E0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553712" y="2057400"/>
            <a:ext cx="3127248" cy="256032"/>
          </a:xfrm>
          <a:prstGeom prst="roundRect">
            <a:avLst>
              <a:gd name="adj" fmla="val 50000"/>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53712" y="2075688"/>
            <a:ext cx="3127248" cy="219456"/>
          </a:xfrm>
          <a:prstGeom prst="rect">
            <a:avLst/>
          </a:prstGeom>
          <a:noFill/>
        </p:spPr>
        <p:txBody>
          <a:bodyPr wrap="square" lIns="0" rIns="0" tIns="0" bIns="0">
            <a:spAutoFit/>
          </a:bodyPr>
          <a:lstStyle/>
          <a:p>
            <a:pPr algn="ctr"/>
            <a:r>
              <a:rPr sz="850" b="1" i="0">
                <a:solidFill>
                  <a:srgbClr val="C2410C"/>
                </a:solidFill>
                <a:latin typeface="Segoe UI"/>
              </a:rPr>
              <a:t>2. IN-PERSON GROUND TRUST</a:t>
            </a:r>
          </a:p>
        </p:txBody>
      </p:sp>
      <p:sp>
        <p:nvSpPr>
          <p:cNvPr id="26" name="TextBox 25"/>
          <p:cNvSpPr txBox="1"/>
          <p:nvPr/>
        </p:nvSpPr>
        <p:spPr>
          <a:xfrm>
            <a:off x="4553712" y="2423160"/>
            <a:ext cx="3127248" cy="320040"/>
          </a:xfrm>
          <a:prstGeom prst="rect">
            <a:avLst/>
          </a:prstGeom>
          <a:noFill/>
        </p:spPr>
        <p:txBody>
          <a:bodyPr wrap="square" lIns="0" rIns="0" tIns="0" bIns="0">
            <a:spAutoFit/>
          </a:bodyPr>
          <a:lstStyle/>
          <a:p>
            <a:pPr algn="l"/>
            <a:r>
              <a:rPr sz="1500" b="1" i="0">
                <a:solidFill>
                  <a:srgbClr val="0F172A"/>
                </a:solidFill>
                <a:latin typeface="Segoe UI"/>
              </a:rPr>
              <a:t>Ghana Card Field Onboarding</a:t>
            </a:r>
          </a:p>
        </p:txBody>
      </p:sp>
      <p:sp>
        <p:nvSpPr>
          <p:cNvPr id="27" name="Rectangle 26"/>
          <p:cNvSpPr/>
          <p:nvPr/>
        </p:nvSpPr>
        <p:spPr>
          <a:xfrm>
            <a:off x="4553712" y="2834640"/>
            <a:ext cx="312724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53712" y="2971800"/>
            <a:ext cx="3127248" cy="2880360"/>
          </a:xfrm>
          <a:prstGeom prst="rect">
            <a:avLst/>
          </a:prstGeom>
          <a:noFill/>
        </p:spPr>
        <p:txBody>
          <a:bodyPr wrap="square" lIns="0" rIns="0" tIns="0" bIns="0">
            <a:spAutoFit/>
          </a:bodyPr>
          <a:lstStyle/>
          <a:p>
            <a:pPr algn="l"/>
            <a:r>
              <a:rPr sz="1100" b="0" i="0">
                <a:solidFill>
                  <a:srgbClr val="334155"/>
                </a:solidFill>
                <a:latin typeface="Segoe UI"/>
              </a:rPr>
              <a:t>•  Field agents conduct in-person Ghana Card verification and MoMo wallet binding with photo audits.
•  Genuine human relationships with community guild elders that cannot be scraped from the web.
•  Physical QR booking cards deployed directly in local artisan stalls and partner hostels.</a:t>
            </a:r>
          </a:p>
        </p:txBody>
      </p:sp>
      <p:sp>
        <p:nvSpPr>
          <p:cNvPr id="29" name="Rounded Rectangle 28"/>
          <p:cNvSpPr/>
          <p:nvPr/>
        </p:nvSpPr>
        <p:spPr>
          <a:xfrm>
            <a:off x="8193023" y="1874519"/>
            <a:ext cx="3493008"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93023" y="1874519"/>
            <a:ext cx="3493008"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375903" y="2057400"/>
            <a:ext cx="3127248" cy="256032"/>
          </a:xfrm>
          <a:prstGeom prst="roundRect">
            <a:avLst>
              <a:gd name="adj" fmla="val 50000"/>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75903" y="2075688"/>
            <a:ext cx="3127248" cy="219456"/>
          </a:xfrm>
          <a:prstGeom prst="rect">
            <a:avLst/>
          </a:prstGeom>
          <a:noFill/>
        </p:spPr>
        <p:txBody>
          <a:bodyPr wrap="square" lIns="0" rIns="0" tIns="0" bIns="0">
            <a:spAutoFit/>
          </a:bodyPr>
          <a:lstStyle/>
          <a:p>
            <a:pPr algn="ctr"/>
            <a:r>
              <a:rPr sz="850" b="1" i="0">
                <a:solidFill>
                  <a:srgbClr val="0284C7"/>
                </a:solidFill>
                <a:latin typeface="Segoe UI"/>
              </a:rPr>
              <a:t>3. TOUR OPERATOR PARTNERS</a:t>
            </a:r>
          </a:p>
        </p:txBody>
      </p:sp>
      <p:sp>
        <p:nvSpPr>
          <p:cNvPr id="33" name="TextBox 32"/>
          <p:cNvSpPr txBox="1"/>
          <p:nvPr/>
        </p:nvSpPr>
        <p:spPr>
          <a:xfrm>
            <a:off x="8375903" y="2423160"/>
            <a:ext cx="3127248" cy="320040"/>
          </a:xfrm>
          <a:prstGeom prst="rect">
            <a:avLst/>
          </a:prstGeom>
          <a:noFill/>
        </p:spPr>
        <p:txBody>
          <a:bodyPr wrap="square" lIns="0" rIns="0" tIns="0" bIns="0">
            <a:spAutoFit/>
          </a:bodyPr>
          <a:lstStyle/>
          <a:p>
            <a:pPr algn="l"/>
            <a:r>
              <a:rPr sz="1500" b="1" i="0">
                <a:solidFill>
                  <a:srgbClr val="0F172A"/>
                </a:solidFill>
                <a:latin typeface="Segoe UI"/>
              </a:rPr>
              <a:t>Curated B2B Partnerships</a:t>
            </a:r>
          </a:p>
        </p:txBody>
      </p:sp>
      <p:sp>
        <p:nvSpPr>
          <p:cNvPr id="34" name="Rectangle 33"/>
          <p:cNvSpPr/>
          <p:nvPr/>
        </p:nvSpPr>
        <p:spPr>
          <a:xfrm>
            <a:off x="8375903" y="2834640"/>
            <a:ext cx="312724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3" y="2971800"/>
            <a:ext cx="3127248" cy="2880360"/>
          </a:xfrm>
          <a:prstGeom prst="rect">
            <a:avLst/>
          </a:prstGeom>
          <a:noFill/>
        </p:spPr>
        <p:txBody>
          <a:bodyPr wrap="square" lIns="0" rIns="0" tIns="0" bIns="0">
            <a:spAutoFit/>
          </a:bodyPr>
          <a:lstStyle/>
          <a:p>
            <a:pPr algn="l"/>
            <a:r>
              <a:rPr sz="1100" b="0" i="0">
                <a:solidFill>
                  <a:srgbClr val="334155"/>
                </a:solidFill>
                <a:latin typeface="Segoe UI"/>
              </a:rPr>
              <a:t>•  Curated tour operators (Visit Ghana listings, boutique operators) integrated at 10–15% commission.
•  Operators gain access to diaspora travelers; Kwan handles payment, escrow, and automated disbursements.
•  Reuses the exact same escrow rails while expanding catalog reach without asset-heavy overhead.</a:t>
            </a:r>
          </a:p>
        </p:txBody>
      </p:sp>
      <p:sp>
        <p:nvSpPr>
          <p:cNvPr id="36" name="Rounded Rectangle 35"/>
          <p:cNvSpPr/>
          <p:nvPr/>
        </p:nvSpPr>
        <p:spPr>
          <a:xfrm>
            <a:off x="548640" y="6217920"/>
            <a:ext cx="11091672" cy="420624"/>
          </a:xfrm>
          <a:prstGeom prst="roundRect">
            <a:avLst>
              <a:gd name="adj" fmla="val 1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58368" y="6309359"/>
            <a:ext cx="36576" cy="23774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6300216"/>
            <a:ext cx="10762488" cy="256032"/>
          </a:xfrm>
          <a:prstGeom prst="rect">
            <a:avLst/>
          </a:prstGeom>
          <a:noFill/>
        </p:spPr>
        <p:txBody>
          <a:bodyPr wrap="square" lIns="0" rIns="0" tIns="0" bIns="0">
            <a:spAutoFit/>
          </a:bodyPr>
          <a:lstStyle/>
          <a:p>
            <a:pPr algn="l"/>
            <a:r>
              <a:rPr sz="1050" b="1" i="0">
                <a:solidFill>
                  <a:srgbClr val="F5A623"/>
                </a:solidFill>
                <a:latin typeface="Segoe UI"/>
              </a:rPr>
              <a:t>🔒 THE DEFENSIBLE MOAT: Software can be cloned; localized Mobile Money rails and community ground trust cannot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1143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143000"/>
            <a:ext cx="1219169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143000"/>
            <a:ext cx="2926080" cy="3200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
            <a:ext cx="402336" cy="237744"/>
          </a:xfrm>
          <a:prstGeom prst="roundRect">
            <a:avLst>
              <a:gd name="adj" fmla="val 5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79"/>
            <a:ext cx="402336" cy="201168"/>
          </a:xfrm>
          <a:prstGeom prst="rect">
            <a:avLst/>
          </a:prstGeom>
          <a:noFill/>
        </p:spPr>
        <p:txBody>
          <a:bodyPr wrap="square" lIns="0" rIns="0" tIns="0" bIns="0">
            <a:spAutoFit/>
          </a:bodyPr>
          <a:lstStyle/>
          <a:p>
            <a:pPr algn="ctr"/>
            <a:r>
              <a:rPr sz="950" b="1" i="0">
                <a:solidFill>
                  <a:srgbClr val="FFFFFF"/>
                </a:solidFill>
                <a:latin typeface="Segoe UI"/>
              </a:rPr>
              <a:t>06</a:t>
            </a:r>
          </a:p>
        </p:txBody>
      </p:sp>
      <p:sp>
        <p:nvSpPr>
          <p:cNvPr id="9" name="TextBox 8"/>
          <p:cNvSpPr txBox="1"/>
          <p:nvPr/>
        </p:nvSpPr>
        <p:spPr>
          <a:xfrm>
            <a:off x="1051560" y="164592"/>
            <a:ext cx="7315200" cy="237744"/>
          </a:xfrm>
          <a:prstGeom prst="rect">
            <a:avLst/>
          </a:prstGeom>
          <a:noFill/>
        </p:spPr>
        <p:txBody>
          <a:bodyPr wrap="square" lIns="0" rIns="0" tIns="0" bIns="0">
            <a:spAutoFit/>
          </a:bodyPr>
          <a:lstStyle/>
          <a:p>
            <a:pPr algn="l"/>
            <a:r>
              <a:rPr sz="1000" b="1" i="0">
                <a:solidFill>
                  <a:srgbClr val="B45309"/>
                </a:solidFill>
                <a:latin typeface="Segoe UI"/>
              </a:rPr>
              <a:t>MARKET VALIDATION</a:t>
            </a:r>
          </a:p>
        </p:txBody>
      </p:sp>
      <p:sp>
        <p:nvSpPr>
          <p:cNvPr id="10" name="TextBox 9"/>
          <p:cNvSpPr txBox="1"/>
          <p:nvPr/>
        </p:nvSpPr>
        <p:spPr>
          <a:xfrm>
            <a:off x="548640" y="438912"/>
            <a:ext cx="10241280" cy="640080"/>
          </a:xfrm>
          <a:prstGeom prst="rect">
            <a:avLst/>
          </a:prstGeom>
          <a:noFill/>
        </p:spPr>
        <p:txBody>
          <a:bodyPr wrap="square" lIns="0" rIns="0" tIns="0" bIns="0">
            <a:spAutoFit/>
          </a:bodyPr>
          <a:lstStyle/>
          <a:p>
            <a:pPr algn="l"/>
            <a:r>
              <a:rPr sz="2300" b="1" i="0">
                <a:solidFill>
                  <a:srgbClr val="0F172A"/>
                </a:solidFill>
                <a:latin typeface="Segoe UI"/>
              </a:rPr>
              <a:t>100% Sourced, Cited, and Verifiable Data from Official Regulators</a:t>
            </a:r>
          </a:p>
        </p:txBody>
      </p:sp>
      <p:sp>
        <p:nvSpPr>
          <p:cNvPr id="11" name="Rounded Rectangle 10"/>
          <p:cNvSpPr/>
          <p:nvPr/>
        </p:nvSpPr>
        <p:spPr>
          <a:xfrm>
            <a:off x="11018520" y="164592"/>
            <a:ext cx="804672" cy="804672"/>
          </a:xfrm>
          <a:prstGeom prst="roundRect">
            <a:avLst>
              <a:gd name="adj" fmla="val 15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wan_logo_square_white_bg.png"/>
          <p:cNvPicPr>
            <a:picLocks noChangeAspect="1"/>
          </p:cNvPicPr>
          <p:nvPr/>
        </p:nvPicPr>
        <p:blipFill>
          <a:blip r:embed="rId2"/>
          <a:stretch>
            <a:fillRect/>
          </a:stretch>
        </p:blipFill>
        <p:spPr>
          <a:xfrm>
            <a:off x="11064240" y="210312"/>
            <a:ext cx="713232" cy="713232"/>
          </a:xfrm>
          <a:prstGeom prst="rect">
            <a:avLst/>
          </a:prstGeom>
        </p:spPr>
      </p:pic>
      <p:sp>
        <p:nvSpPr>
          <p:cNvPr id="13" name="Rounded Rectangle 12"/>
          <p:cNvSpPr/>
          <p:nvPr/>
        </p:nvSpPr>
        <p:spPr>
          <a:xfrm>
            <a:off x="548640" y="1280160"/>
            <a:ext cx="11091672" cy="411480"/>
          </a:xfrm>
          <a:prstGeom prst="roundRect">
            <a:avLst>
              <a:gd name="adj" fmla="val 8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362456"/>
            <a:ext cx="10689336" cy="246888"/>
          </a:xfrm>
          <a:prstGeom prst="rect">
            <a:avLst/>
          </a:prstGeom>
          <a:noFill/>
        </p:spPr>
        <p:txBody>
          <a:bodyPr wrap="square" lIns="0" rIns="0" tIns="0" bIns="0">
            <a:spAutoFit/>
          </a:bodyPr>
          <a:lstStyle/>
          <a:p>
            <a:pPr algn="l"/>
            <a:r>
              <a:rPr sz="1100" b="1" i="0">
                <a:solidFill>
                  <a:srgbClr val="B45309"/>
                </a:solidFill>
                <a:latin typeface="Segoe UI"/>
              </a:rPr>
              <a:t>📋 ZERO FABRICATED METRICS: No unverified survey numbers. Every market statistic is drawn directly from official 2024 government reports.</a:t>
            </a:r>
          </a:p>
        </p:txBody>
      </p:sp>
      <p:sp>
        <p:nvSpPr>
          <p:cNvPr id="15" name="Rounded Rectangle 14"/>
          <p:cNvSpPr/>
          <p:nvPr/>
        </p:nvSpPr>
        <p:spPr>
          <a:xfrm>
            <a:off x="548640" y="1874519"/>
            <a:ext cx="2624328" cy="1920240"/>
          </a:xfrm>
          <a:prstGeom prst="roundRect">
            <a:avLst>
              <a:gd name="adj" fmla="val 8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874519"/>
            <a:ext cx="2624328"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011680"/>
            <a:ext cx="2350008" cy="502920"/>
          </a:xfrm>
          <a:prstGeom prst="rect">
            <a:avLst/>
          </a:prstGeom>
          <a:noFill/>
        </p:spPr>
        <p:txBody>
          <a:bodyPr wrap="square" lIns="0" rIns="0" tIns="0" bIns="0">
            <a:spAutoFit/>
          </a:bodyPr>
          <a:lstStyle/>
          <a:p>
            <a:pPr algn="l"/>
            <a:r>
              <a:rPr sz="2700" b="1" i="0">
                <a:solidFill>
                  <a:srgbClr val="B45309"/>
                </a:solidFill>
                <a:latin typeface="Segoe UI"/>
              </a:rPr>
              <a:t>$2.39B+</a:t>
            </a:r>
          </a:p>
        </p:txBody>
      </p:sp>
      <p:sp>
        <p:nvSpPr>
          <p:cNvPr id="18" name="TextBox 17"/>
          <p:cNvSpPr txBox="1"/>
          <p:nvPr/>
        </p:nvSpPr>
        <p:spPr>
          <a:xfrm>
            <a:off x="685800" y="2542032"/>
            <a:ext cx="2350008" cy="256032"/>
          </a:xfrm>
          <a:prstGeom prst="rect">
            <a:avLst/>
          </a:prstGeom>
          <a:noFill/>
        </p:spPr>
        <p:txBody>
          <a:bodyPr wrap="square" lIns="0" rIns="0" tIns="0" bIns="0">
            <a:spAutoFit/>
          </a:bodyPr>
          <a:lstStyle/>
          <a:p>
            <a:pPr algn="l"/>
            <a:r>
              <a:rPr sz="1150" b="1" i="0">
                <a:solidFill>
                  <a:srgbClr val="0F172A"/>
                </a:solidFill>
                <a:latin typeface="Segoe UI"/>
              </a:rPr>
              <a:t>Annual Tourist Spend</a:t>
            </a:r>
          </a:p>
        </p:txBody>
      </p:sp>
      <p:sp>
        <p:nvSpPr>
          <p:cNvPr id="19" name="Rectangle 18"/>
          <p:cNvSpPr/>
          <p:nvPr/>
        </p:nvSpPr>
        <p:spPr>
          <a:xfrm>
            <a:off x="685800" y="2834640"/>
            <a:ext cx="235000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926080"/>
            <a:ext cx="2350008" cy="777240"/>
          </a:xfrm>
          <a:prstGeom prst="rect">
            <a:avLst/>
          </a:prstGeom>
          <a:noFill/>
        </p:spPr>
        <p:txBody>
          <a:bodyPr wrap="square" lIns="0" rIns="0" tIns="0" bIns="0">
            <a:spAutoFit/>
          </a:bodyPr>
          <a:lstStyle/>
          <a:p>
            <a:pPr algn="l"/>
            <a:r>
              <a:rPr sz="950" b="0" i="0">
                <a:solidFill>
                  <a:srgbClr val="334155"/>
                </a:solidFill>
                <a:latin typeface="Segoe UI"/>
              </a:rPr>
              <a:t>Ghana Tourism Authority 2024
1.29M international arrivals in 2024</a:t>
            </a:r>
          </a:p>
        </p:txBody>
      </p:sp>
      <p:sp>
        <p:nvSpPr>
          <p:cNvPr id="21" name="Rounded Rectangle 20"/>
          <p:cNvSpPr/>
          <p:nvPr/>
        </p:nvSpPr>
        <p:spPr>
          <a:xfrm>
            <a:off x="3392424" y="1874519"/>
            <a:ext cx="2624328" cy="1920240"/>
          </a:xfrm>
          <a:prstGeom prst="roundRect">
            <a:avLst>
              <a:gd name="adj" fmla="val 8000"/>
            </a:avLst>
          </a:prstGeom>
          <a:solidFill>
            <a:srgbClr val="FFF7ED"/>
          </a:solidFill>
          <a:ln w="9525">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92424" y="1874519"/>
            <a:ext cx="2624328" cy="45720"/>
          </a:xfrm>
          <a:prstGeom prst="rect">
            <a:avLst/>
          </a:prstGeom>
          <a:solidFill>
            <a:srgbClr val="E0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9584" y="2011680"/>
            <a:ext cx="2350008" cy="502920"/>
          </a:xfrm>
          <a:prstGeom prst="rect">
            <a:avLst/>
          </a:prstGeom>
          <a:noFill/>
        </p:spPr>
        <p:txBody>
          <a:bodyPr wrap="square" lIns="0" rIns="0" tIns="0" bIns="0">
            <a:spAutoFit/>
          </a:bodyPr>
          <a:lstStyle/>
          <a:p>
            <a:pPr algn="l"/>
            <a:r>
              <a:rPr sz="2700" b="1" i="0">
                <a:solidFill>
                  <a:srgbClr val="C2410C"/>
                </a:solidFill>
                <a:latin typeface="Segoe UI"/>
              </a:rPr>
              <a:t>92.3%</a:t>
            </a:r>
          </a:p>
        </p:txBody>
      </p:sp>
      <p:sp>
        <p:nvSpPr>
          <p:cNvPr id="24" name="TextBox 23"/>
          <p:cNvSpPr txBox="1"/>
          <p:nvPr/>
        </p:nvSpPr>
        <p:spPr>
          <a:xfrm>
            <a:off x="3529584" y="2542032"/>
            <a:ext cx="2350008" cy="256032"/>
          </a:xfrm>
          <a:prstGeom prst="rect">
            <a:avLst/>
          </a:prstGeom>
          <a:noFill/>
        </p:spPr>
        <p:txBody>
          <a:bodyPr wrap="square" lIns="0" rIns="0" tIns="0" bIns="0">
            <a:spAutoFit/>
          </a:bodyPr>
          <a:lstStyle/>
          <a:p>
            <a:pPr algn="l"/>
            <a:r>
              <a:rPr sz="1150" b="1" i="0">
                <a:solidFill>
                  <a:srgbClr val="0F172A"/>
                </a:solidFill>
                <a:latin typeface="Segoe UI"/>
              </a:rPr>
              <a:t>Informal Business Rate</a:t>
            </a:r>
          </a:p>
        </p:txBody>
      </p:sp>
      <p:sp>
        <p:nvSpPr>
          <p:cNvPr id="25" name="Rectangle 24"/>
          <p:cNvSpPr/>
          <p:nvPr/>
        </p:nvSpPr>
        <p:spPr>
          <a:xfrm>
            <a:off x="3529584" y="2834640"/>
            <a:ext cx="235000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29584" y="2926080"/>
            <a:ext cx="2350008" cy="777240"/>
          </a:xfrm>
          <a:prstGeom prst="rect">
            <a:avLst/>
          </a:prstGeom>
          <a:noFill/>
        </p:spPr>
        <p:txBody>
          <a:bodyPr wrap="square" lIns="0" rIns="0" tIns="0" bIns="0">
            <a:spAutoFit/>
          </a:bodyPr>
          <a:lstStyle/>
          <a:p>
            <a:pPr algn="l"/>
            <a:r>
              <a:rPr sz="950" b="0" i="0">
                <a:solidFill>
                  <a:srgbClr val="334155"/>
                </a:solidFill>
                <a:latin typeface="Segoe UI"/>
              </a:rPr>
              <a:t>Ghana Statistical Service IBES 2024
1.87M establishments operating informally</a:t>
            </a:r>
          </a:p>
        </p:txBody>
      </p:sp>
      <p:sp>
        <p:nvSpPr>
          <p:cNvPr id="27" name="Rounded Rectangle 26"/>
          <p:cNvSpPr/>
          <p:nvPr/>
        </p:nvSpPr>
        <p:spPr>
          <a:xfrm>
            <a:off x="6236207" y="1874519"/>
            <a:ext cx="2624328" cy="1920240"/>
          </a:xfrm>
          <a:prstGeom prst="roundRect">
            <a:avLst>
              <a:gd name="adj" fmla="val 8000"/>
            </a:avLst>
          </a:prstGeom>
          <a:solidFill>
            <a:srgbClr val="ECFDF5"/>
          </a:solidFill>
          <a:ln w="95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7" y="1874519"/>
            <a:ext cx="262432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73368" y="2011680"/>
            <a:ext cx="2350008" cy="502920"/>
          </a:xfrm>
          <a:prstGeom prst="rect">
            <a:avLst/>
          </a:prstGeom>
          <a:noFill/>
        </p:spPr>
        <p:txBody>
          <a:bodyPr wrap="square" lIns="0" rIns="0" tIns="0" bIns="0">
            <a:spAutoFit/>
          </a:bodyPr>
          <a:lstStyle/>
          <a:p>
            <a:pPr algn="l"/>
            <a:r>
              <a:rPr sz="2700" b="1" i="0">
                <a:solidFill>
                  <a:srgbClr val="047857"/>
                </a:solidFill>
                <a:latin typeface="Segoe UI"/>
              </a:rPr>
              <a:t>71 Million</a:t>
            </a:r>
          </a:p>
        </p:txBody>
      </p:sp>
      <p:sp>
        <p:nvSpPr>
          <p:cNvPr id="30" name="TextBox 29"/>
          <p:cNvSpPr txBox="1"/>
          <p:nvPr/>
        </p:nvSpPr>
        <p:spPr>
          <a:xfrm>
            <a:off x="6373368" y="2542032"/>
            <a:ext cx="2350008" cy="256032"/>
          </a:xfrm>
          <a:prstGeom prst="rect">
            <a:avLst/>
          </a:prstGeom>
          <a:noFill/>
        </p:spPr>
        <p:txBody>
          <a:bodyPr wrap="square" lIns="0" rIns="0" tIns="0" bIns="0">
            <a:spAutoFit/>
          </a:bodyPr>
          <a:lstStyle/>
          <a:p>
            <a:pPr algn="l"/>
            <a:r>
              <a:rPr sz="1150" b="1" i="0">
                <a:solidFill>
                  <a:srgbClr val="0F172A"/>
                </a:solidFill>
                <a:latin typeface="Segoe UI"/>
              </a:rPr>
              <a:t>Registered MoMo Accounts</a:t>
            </a:r>
          </a:p>
        </p:txBody>
      </p:sp>
      <p:sp>
        <p:nvSpPr>
          <p:cNvPr id="31" name="Rectangle 30"/>
          <p:cNvSpPr/>
          <p:nvPr/>
        </p:nvSpPr>
        <p:spPr>
          <a:xfrm>
            <a:off x="6373368" y="2834640"/>
            <a:ext cx="235000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73368" y="2926080"/>
            <a:ext cx="2350008" cy="777240"/>
          </a:xfrm>
          <a:prstGeom prst="rect">
            <a:avLst/>
          </a:prstGeom>
          <a:noFill/>
        </p:spPr>
        <p:txBody>
          <a:bodyPr wrap="square" lIns="0" rIns="0" tIns="0" bIns="0">
            <a:spAutoFit/>
          </a:bodyPr>
          <a:lstStyle/>
          <a:p>
            <a:pPr algn="l"/>
            <a:r>
              <a:rPr sz="950" b="0" i="0">
                <a:solidFill>
                  <a:srgbClr val="334155"/>
                </a:solidFill>
                <a:latin typeface="Segoe UI"/>
              </a:rPr>
              <a:t>Bank of Ghana Payments Report 2024
Mobile Money is Ghana's primary financial rail</a:t>
            </a:r>
          </a:p>
        </p:txBody>
      </p:sp>
      <p:sp>
        <p:nvSpPr>
          <p:cNvPr id="33" name="Rounded Rectangle 32"/>
          <p:cNvSpPr/>
          <p:nvPr/>
        </p:nvSpPr>
        <p:spPr>
          <a:xfrm>
            <a:off x="9079992" y="1874519"/>
            <a:ext cx="2624328" cy="1920240"/>
          </a:xfrm>
          <a:prstGeom prst="roundRect">
            <a:avLst>
              <a:gd name="adj" fmla="val 8000"/>
            </a:avLst>
          </a:prstGeom>
          <a:solidFill>
            <a:srgbClr val="F0F9FF"/>
          </a:solidFill>
          <a:ln w="9525">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79992" y="1874519"/>
            <a:ext cx="2624328"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17152" y="2011680"/>
            <a:ext cx="2350008" cy="502920"/>
          </a:xfrm>
          <a:prstGeom prst="rect">
            <a:avLst/>
          </a:prstGeom>
          <a:noFill/>
        </p:spPr>
        <p:txBody>
          <a:bodyPr wrap="square" lIns="0" rIns="0" tIns="0" bIns="0">
            <a:spAutoFit/>
          </a:bodyPr>
          <a:lstStyle/>
          <a:p>
            <a:pPr algn="l"/>
            <a:r>
              <a:rPr sz="2700" b="1" i="0">
                <a:solidFill>
                  <a:srgbClr val="0284C7"/>
                </a:solidFill>
                <a:latin typeface="Segoe UI"/>
              </a:rPr>
              <a:t>GH¢3.01T</a:t>
            </a:r>
          </a:p>
        </p:txBody>
      </p:sp>
      <p:sp>
        <p:nvSpPr>
          <p:cNvPr id="36" name="TextBox 35"/>
          <p:cNvSpPr txBox="1"/>
          <p:nvPr/>
        </p:nvSpPr>
        <p:spPr>
          <a:xfrm>
            <a:off x="9217152" y="2542032"/>
            <a:ext cx="2350008" cy="256032"/>
          </a:xfrm>
          <a:prstGeom prst="rect">
            <a:avLst/>
          </a:prstGeom>
          <a:noFill/>
        </p:spPr>
        <p:txBody>
          <a:bodyPr wrap="square" lIns="0" rIns="0" tIns="0" bIns="0">
            <a:spAutoFit/>
          </a:bodyPr>
          <a:lstStyle/>
          <a:p>
            <a:pPr algn="l"/>
            <a:r>
              <a:rPr sz="1150" b="1" i="0">
                <a:solidFill>
                  <a:srgbClr val="0F172A"/>
                </a:solidFill>
                <a:latin typeface="Segoe UI"/>
              </a:rPr>
              <a:t>MoMo Volume in 2024</a:t>
            </a:r>
          </a:p>
        </p:txBody>
      </p:sp>
      <p:sp>
        <p:nvSpPr>
          <p:cNvPr id="37" name="Rectangle 36"/>
          <p:cNvSpPr/>
          <p:nvPr/>
        </p:nvSpPr>
        <p:spPr>
          <a:xfrm>
            <a:off x="9217152" y="2834640"/>
            <a:ext cx="235000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17152" y="2926080"/>
            <a:ext cx="2350008" cy="777240"/>
          </a:xfrm>
          <a:prstGeom prst="rect">
            <a:avLst/>
          </a:prstGeom>
          <a:noFill/>
        </p:spPr>
        <p:txBody>
          <a:bodyPr wrap="square" lIns="0" rIns="0" tIns="0" bIns="0">
            <a:spAutoFit/>
          </a:bodyPr>
          <a:lstStyle/>
          <a:p>
            <a:pPr algn="l"/>
            <a:r>
              <a:rPr sz="950" b="0" i="0">
                <a:solidFill>
                  <a:srgbClr val="334155"/>
                </a:solidFill>
                <a:latin typeface="Segoe UI"/>
              </a:rPr>
              <a:t>Bank of Ghana 2024 Payments Report
+56.8% YoY growth · 8.1B transactions</a:t>
            </a:r>
          </a:p>
        </p:txBody>
      </p:sp>
      <p:sp>
        <p:nvSpPr>
          <p:cNvPr id="39" name="Rounded Rectangle 38"/>
          <p:cNvSpPr/>
          <p:nvPr/>
        </p:nvSpPr>
        <p:spPr>
          <a:xfrm>
            <a:off x="548640" y="3977639"/>
            <a:ext cx="5349240" cy="205740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3977639"/>
            <a:ext cx="45720" cy="20574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4114800"/>
            <a:ext cx="4846320" cy="256032"/>
          </a:xfrm>
          <a:prstGeom prst="rect">
            <a:avLst/>
          </a:prstGeom>
          <a:noFill/>
        </p:spPr>
        <p:txBody>
          <a:bodyPr wrap="square" lIns="0" rIns="0" tIns="0" bIns="0">
            <a:spAutoFit/>
          </a:bodyPr>
          <a:lstStyle/>
          <a:p>
            <a:pPr algn="l"/>
            <a:r>
              <a:rPr sz="1100" b="1" i="0">
                <a:solidFill>
                  <a:srgbClr val="B45309"/>
                </a:solidFill>
                <a:latin typeface="Segoe UI"/>
              </a:rPr>
              <a:t>🎯 GROUND PILOT BEACHHEAD PIPELINE</a:t>
            </a:r>
          </a:p>
        </p:txBody>
      </p:sp>
      <p:sp>
        <p:nvSpPr>
          <p:cNvPr id="42" name="TextBox 41"/>
          <p:cNvSpPr txBox="1"/>
          <p:nvPr/>
        </p:nvSpPr>
        <p:spPr>
          <a:xfrm>
            <a:off x="777240" y="4389120"/>
            <a:ext cx="4846320" cy="292608"/>
          </a:xfrm>
          <a:prstGeom prst="rect">
            <a:avLst/>
          </a:prstGeom>
          <a:noFill/>
        </p:spPr>
        <p:txBody>
          <a:bodyPr wrap="square" lIns="0" rIns="0" tIns="0" bIns="0">
            <a:spAutoFit/>
          </a:bodyPr>
          <a:lstStyle/>
          <a:p>
            <a:pPr algn="l"/>
            <a:r>
              <a:rPr sz="1400" b="1" i="0">
                <a:solidFill>
                  <a:srgbClr val="0F172A"/>
                </a:solidFill>
                <a:latin typeface="Segoe UI"/>
              </a:rPr>
              <a:t>Ga-Mashie Heritage Guild (Jamestown, Accra)</a:t>
            </a:r>
          </a:p>
        </p:txBody>
      </p:sp>
      <p:sp>
        <p:nvSpPr>
          <p:cNvPr id="43" name="TextBox 42"/>
          <p:cNvSpPr txBox="1"/>
          <p:nvPr/>
        </p:nvSpPr>
        <p:spPr>
          <a:xfrm>
            <a:off x="777240" y="4736592"/>
            <a:ext cx="4846320" cy="1188720"/>
          </a:xfrm>
          <a:prstGeom prst="rect">
            <a:avLst/>
          </a:prstGeom>
          <a:noFill/>
        </p:spPr>
        <p:txBody>
          <a:bodyPr wrap="square" lIns="0" rIns="0" tIns="0" bIns="0">
            <a:spAutoFit/>
          </a:bodyPr>
          <a:lstStyle/>
          <a:p>
            <a:pPr algn="l"/>
            <a:r>
              <a:rPr sz="1100" b="0" i="0">
                <a:solidFill>
                  <a:srgbClr val="334155"/>
                </a:solidFill>
                <a:latin typeface="Segoe UI"/>
              </a:rPr>
              <a:t>• 150+ Mapped Artisans: Active pipeline of street guides, boxing trainers, and artisans.
• In-Person Vetting: Ghana Card verification and phone wallet binding completed.
• Live Working Escrow: Tested on-site in Accra for immediate deployment.</a:t>
            </a:r>
          </a:p>
        </p:txBody>
      </p:sp>
      <p:sp>
        <p:nvSpPr>
          <p:cNvPr id="44" name="Rounded Rectangle 43"/>
          <p:cNvSpPr/>
          <p:nvPr/>
        </p:nvSpPr>
        <p:spPr>
          <a:xfrm>
            <a:off x="6263640" y="3977639"/>
            <a:ext cx="5349240" cy="205740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263640" y="3977639"/>
            <a:ext cx="45720" cy="2057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2240" y="4114800"/>
            <a:ext cx="4846320" cy="256032"/>
          </a:xfrm>
          <a:prstGeom prst="rect">
            <a:avLst/>
          </a:prstGeom>
          <a:noFill/>
        </p:spPr>
        <p:txBody>
          <a:bodyPr wrap="square" lIns="0" rIns="0" tIns="0" bIns="0">
            <a:spAutoFit/>
          </a:bodyPr>
          <a:lstStyle/>
          <a:p>
            <a:pPr algn="l"/>
            <a:r>
              <a:rPr sz="1100" b="1" i="0">
                <a:solidFill>
                  <a:srgbClr val="047857"/>
                </a:solidFill>
                <a:latin typeface="Segoe UI"/>
              </a:rPr>
              <a:t>⚖️ REGULATORY &amp; TOURISM LEVY COMPLIANCE</a:t>
            </a:r>
          </a:p>
        </p:txBody>
      </p:sp>
      <p:sp>
        <p:nvSpPr>
          <p:cNvPr id="47" name="TextBox 46"/>
          <p:cNvSpPr txBox="1"/>
          <p:nvPr/>
        </p:nvSpPr>
        <p:spPr>
          <a:xfrm>
            <a:off x="6492240" y="4389120"/>
            <a:ext cx="4846320" cy="292608"/>
          </a:xfrm>
          <a:prstGeom prst="rect">
            <a:avLst/>
          </a:prstGeom>
          <a:noFill/>
        </p:spPr>
        <p:txBody>
          <a:bodyPr wrap="square" lIns="0" rIns="0" tIns="0" bIns="0">
            <a:spAutoFit/>
          </a:bodyPr>
          <a:lstStyle/>
          <a:p>
            <a:pPr algn="l"/>
            <a:r>
              <a:rPr sz="1400" b="1" i="0">
                <a:solidFill>
                  <a:srgbClr val="0F172A"/>
                </a:solidFill>
                <a:latin typeface="Segoe UI"/>
              </a:rPr>
              <a:t>Automated 1% Tourism Ministry Development Levy</a:t>
            </a:r>
          </a:p>
        </p:txBody>
      </p:sp>
      <p:sp>
        <p:nvSpPr>
          <p:cNvPr id="48" name="TextBox 47"/>
          <p:cNvSpPr txBox="1"/>
          <p:nvPr/>
        </p:nvSpPr>
        <p:spPr>
          <a:xfrm>
            <a:off x="6492240" y="4736592"/>
            <a:ext cx="4846320" cy="1188720"/>
          </a:xfrm>
          <a:prstGeom prst="rect">
            <a:avLst/>
          </a:prstGeom>
          <a:noFill/>
        </p:spPr>
        <p:txBody>
          <a:bodyPr wrap="square" lIns="0" rIns="0" tIns="0" bIns="0">
            <a:spAutoFit/>
          </a:bodyPr>
          <a:lstStyle/>
          <a:p>
            <a:pPr algn="l"/>
            <a:r>
              <a:rPr sz="1100" b="0" i="0">
                <a:solidFill>
                  <a:srgbClr val="334155"/>
                </a:solidFill>
                <a:latin typeface="Segoe UI"/>
              </a:rPr>
              <a:t>• Statutory Compliance: Automatically tracks and holds 1% on every eligible booking.
• Ministry Remittance: Batched payouts to Ghana Tourism Development Fund.
• National Heritage: Directly funds maintenance of national monuments and attractions.</a:t>
            </a:r>
          </a:p>
        </p:txBody>
      </p:sp>
      <p:sp>
        <p:nvSpPr>
          <p:cNvPr id="49" name="Rounded Rectangle 48"/>
          <p:cNvSpPr/>
          <p:nvPr/>
        </p:nvSpPr>
        <p:spPr>
          <a:xfrm>
            <a:off x="548640" y="6217920"/>
            <a:ext cx="11091672" cy="420624"/>
          </a:xfrm>
          <a:prstGeom prst="roundRect">
            <a:avLst>
              <a:gd name="adj" fmla="val 1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58368" y="6309359"/>
            <a:ext cx="36576" cy="23774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8096" y="6300216"/>
            <a:ext cx="10762488" cy="256032"/>
          </a:xfrm>
          <a:prstGeom prst="rect">
            <a:avLst/>
          </a:prstGeom>
          <a:noFill/>
        </p:spPr>
        <p:txBody>
          <a:bodyPr wrap="square" lIns="0" rIns="0" tIns="0" bIns="0">
            <a:spAutoFit/>
          </a:bodyPr>
          <a:lstStyle/>
          <a:p>
            <a:pPr algn="l"/>
            <a:r>
              <a:rPr sz="1050" b="1" i="0">
                <a:solidFill>
                  <a:srgbClr val="F5A623"/>
                </a:solidFill>
                <a:latin typeface="Segoe UI"/>
              </a:rPr>
              <a:t>📊 ZERO GUESSWORK: 100% of market metrics come from official 2024 government &amp; regulatory reports. Test our live working MVP at our table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1143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143000"/>
            <a:ext cx="1219169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143000"/>
            <a:ext cx="2926080" cy="3200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
            <a:ext cx="402336" cy="237744"/>
          </a:xfrm>
          <a:prstGeom prst="roundRect">
            <a:avLst>
              <a:gd name="adj" fmla="val 5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79"/>
            <a:ext cx="402336" cy="201168"/>
          </a:xfrm>
          <a:prstGeom prst="rect">
            <a:avLst/>
          </a:prstGeom>
          <a:noFill/>
        </p:spPr>
        <p:txBody>
          <a:bodyPr wrap="square" lIns="0" rIns="0" tIns="0" bIns="0">
            <a:spAutoFit/>
          </a:bodyPr>
          <a:lstStyle/>
          <a:p>
            <a:pPr algn="ctr"/>
            <a:r>
              <a:rPr sz="950" b="1" i="0">
                <a:solidFill>
                  <a:srgbClr val="FFFFFF"/>
                </a:solidFill>
                <a:latin typeface="Segoe UI"/>
              </a:rPr>
              <a:t>07</a:t>
            </a:r>
          </a:p>
        </p:txBody>
      </p:sp>
      <p:sp>
        <p:nvSpPr>
          <p:cNvPr id="9" name="TextBox 8"/>
          <p:cNvSpPr txBox="1"/>
          <p:nvPr/>
        </p:nvSpPr>
        <p:spPr>
          <a:xfrm>
            <a:off x="1051560" y="164592"/>
            <a:ext cx="7315200" cy="237744"/>
          </a:xfrm>
          <a:prstGeom prst="rect">
            <a:avLst/>
          </a:prstGeom>
          <a:noFill/>
        </p:spPr>
        <p:txBody>
          <a:bodyPr wrap="square" lIns="0" rIns="0" tIns="0" bIns="0">
            <a:spAutoFit/>
          </a:bodyPr>
          <a:lstStyle/>
          <a:p>
            <a:pPr algn="l"/>
            <a:r>
              <a:rPr sz="1000" b="1" i="0">
                <a:solidFill>
                  <a:srgbClr val="B45309"/>
                </a:solidFill>
                <a:latin typeface="Segoe UI"/>
              </a:rPr>
              <a:t>BUSINESS MODEL</a:t>
            </a:r>
          </a:p>
        </p:txBody>
      </p:sp>
      <p:sp>
        <p:nvSpPr>
          <p:cNvPr id="10" name="TextBox 9"/>
          <p:cNvSpPr txBox="1"/>
          <p:nvPr/>
        </p:nvSpPr>
        <p:spPr>
          <a:xfrm>
            <a:off x="548640" y="438912"/>
            <a:ext cx="10241280" cy="640080"/>
          </a:xfrm>
          <a:prstGeom prst="rect">
            <a:avLst/>
          </a:prstGeom>
          <a:noFill/>
        </p:spPr>
        <p:txBody>
          <a:bodyPr wrap="square" lIns="0" rIns="0" tIns="0" bIns="0">
            <a:spAutoFit/>
          </a:bodyPr>
          <a:lstStyle/>
          <a:p>
            <a:pPr algn="l"/>
            <a:r>
              <a:rPr sz="2300" b="1" i="0">
                <a:solidFill>
                  <a:srgbClr val="0F172A"/>
                </a:solidFill>
                <a:latin typeface="Segoe UI"/>
              </a:rPr>
              <a:t>Transparent 10% Take Rate · 55%–60% Net Profit Margin</a:t>
            </a:r>
          </a:p>
        </p:txBody>
      </p:sp>
      <p:sp>
        <p:nvSpPr>
          <p:cNvPr id="11" name="Rounded Rectangle 10"/>
          <p:cNvSpPr/>
          <p:nvPr/>
        </p:nvSpPr>
        <p:spPr>
          <a:xfrm>
            <a:off x="11018520" y="164592"/>
            <a:ext cx="804672" cy="804672"/>
          </a:xfrm>
          <a:prstGeom prst="roundRect">
            <a:avLst>
              <a:gd name="adj" fmla="val 15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wan_logo_square_white_bg.png"/>
          <p:cNvPicPr>
            <a:picLocks noChangeAspect="1"/>
          </p:cNvPicPr>
          <p:nvPr/>
        </p:nvPicPr>
        <p:blipFill>
          <a:blip r:embed="rId2"/>
          <a:stretch>
            <a:fillRect/>
          </a:stretch>
        </p:blipFill>
        <p:spPr>
          <a:xfrm>
            <a:off x="11064240" y="210312"/>
            <a:ext cx="713232" cy="713232"/>
          </a:xfrm>
          <a:prstGeom prst="rect">
            <a:avLst/>
          </a:prstGeom>
        </p:spPr>
      </p:pic>
      <p:sp>
        <p:nvSpPr>
          <p:cNvPr id="13" name="Rounded Rectangle 12"/>
          <p:cNvSpPr/>
          <p:nvPr/>
        </p:nvSpPr>
        <p:spPr>
          <a:xfrm>
            <a:off x="548640" y="1280160"/>
            <a:ext cx="11091672" cy="411480"/>
          </a:xfrm>
          <a:prstGeom prst="roundRect">
            <a:avLst>
              <a:gd name="adj" fmla="val 8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362456"/>
            <a:ext cx="10689336" cy="246888"/>
          </a:xfrm>
          <a:prstGeom prst="rect">
            <a:avLst/>
          </a:prstGeom>
          <a:noFill/>
        </p:spPr>
        <p:txBody>
          <a:bodyPr wrap="square" lIns="0" rIns="0" tIns="0" bIns="0">
            <a:spAutoFit/>
          </a:bodyPr>
          <a:lstStyle/>
          <a:p>
            <a:pPr algn="l"/>
            <a:r>
              <a:rPr sz="1100" b="1" i="0">
                <a:solidFill>
                  <a:srgbClr val="B45309"/>
                </a:solidFill>
                <a:latin typeface="Segoe UI"/>
              </a:rPr>
              <a:t>💰 SUSTAINABLE UNIT ECONOMICS: Profitable on every single booking from day one. Zero venture subsidy required.</a:t>
            </a:r>
          </a:p>
        </p:txBody>
      </p:sp>
      <p:sp>
        <p:nvSpPr>
          <p:cNvPr id="15" name="Rounded Rectangle 14"/>
          <p:cNvSpPr/>
          <p:nvPr/>
        </p:nvSpPr>
        <p:spPr>
          <a:xfrm>
            <a:off x="548640" y="1874519"/>
            <a:ext cx="5349240"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874519"/>
            <a:ext cx="53492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2057400"/>
            <a:ext cx="2926080" cy="256032"/>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075688"/>
            <a:ext cx="2926080" cy="219456"/>
          </a:xfrm>
          <a:prstGeom prst="rect">
            <a:avLst/>
          </a:prstGeom>
          <a:noFill/>
        </p:spPr>
        <p:txBody>
          <a:bodyPr wrap="square" lIns="0" rIns="0" tIns="0" bIns="0">
            <a:spAutoFit/>
          </a:bodyPr>
          <a:lstStyle/>
          <a:p>
            <a:pPr algn="ctr"/>
            <a:r>
              <a:rPr sz="900" b="1" i="0">
                <a:solidFill>
                  <a:srgbClr val="047857"/>
                </a:solidFill>
                <a:latin typeface="Segoe UI"/>
              </a:rPr>
              <a:t>SAMPLE $50 CULTURAL TOUR BOOKING</a:t>
            </a:r>
          </a:p>
        </p:txBody>
      </p:sp>
      <p:sp>
        <p:nvSpPr>
          <p:cNvPr id="19" name="TextBox 18"/>
          <p:cNvSpPr txBox="1"/>
          <p:nvPr/>
        </p:nvSpPr>
        <p:spPr>
          <a:xfrm>
            <a:off x="777240" y="2423160"/>
            <a:ext cx="4846320" cy="320040"/>
          </a:xfrm>
          <a:prstGeom prst="rect">
            <a:avLst/>
          </a:prstGeom>
          <a:noFill/>
        </p:spPr>
        <p:txBody>
          <a:bodyPr wrap="square" lIns="0" rIns="0" tIns="0" bIns="0">
            <a:spAutoFit/>
          </a:bodyPr>
          <a:lstStyle/>
          <a:p>
            <a:pPr algn="l"/>
            <a:r>
              <a:rPr sz="1600" b="1" i="0">
                <a:solidFill>
                  <a:srgbClr val="0F172A"/>
                </a:solidFill>
                <a:latin typeface="Segoe UI"/>
              </a:rPr>
              <a:t>Transaction Revenue Waterfall</a:t>
            </a:r>
          </a:p>
        </p:txBody>
      </p:sp>
      <p:sp>
        <p:nvSpPr>
          <p:cNvPr id="20" name="Rectangle 19"/>
          <p:cNvSpPr/>
          <p:nvPr/>
        </p:nvSpPr>
        <p:spPr>
          <a:xfrm>
            <a:off x="777240" y="2788920"/>
            <a:ext cx="484632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2926080"/>
            <a:ext cx="4892040" cy="402336"/>
          </a:xfrm>
          <a:prstGeom prst="roundRect">
            <a:avLst>
              <a:gd name="adj" fmla="val 5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2999232"/>
            <a:ext cx="2926080" cy="256032"/>
          </a:xfrm>
          <a:prstGeom prst="rect">
            <a:avLst/>
          </a:prstGeom>
          <a:noFill/>
        </p:spPr>
        <p:txBody>
          <a:bodyPr wrap="square" lIns="0" rIns="0" tIns="0" bIns="0">
            <a:spAutoFit/>
          </a:bodyPr>
          <a:lstStyle/>
          <a:p>
            <a:pPr algn="l"/>
            <a:r>
              <a:rPr sz="1100" b="1" i="0">
                <a:solidFill>
                  <a:srgbClr val="0F172A"/>
                </a:solidFill>
                <a:latin typeface="Segoe UI"/>
              </a:rPr>
              <a:t>Traveller Pays (Card / Apple Pay):</a:t>
            </a:r>
          </a:p>
        </p:txBody>
      </p:sp>
      <p:sp>
        <p:nvSpPr>
          <p:cNvPr id="23" name="TextBox 22"/>
          <p:cNvSpPr txBox="1"/>
          <p:nvPr/>
        </p:nvSpPr>
        <p:spPr>
          <a:xfrm>
            <a:off x="3840480" y="2999232"/>
            <a:ext cx="914400" cy="256032"/>
          </a:xfrm>
          <a:prstGeom prst="rect">
            <a:avLst/>
          </a:prstGeom>
          <a:noFill/>
        </p:spPr>
        <p:txBody>
          <a:bodyPr wrap="square" lIns="0" rIns="0" tIns="0" bIns="0">
            <a:spAutoFit/>
          </a:bodyPr>
          <a:lstStyle/>
          <a:p>
            <a:pPr algn="r"/>
            <a:r>
              <a:rPr sz="1150" b="1" i="0">
                <a:solidFill>
                  <a:srgbClr val="0F172A"/>
                </a:solidFill>
                <a:latin typeface="Segoe UI"/>
              </a:rPr>
              <a:t>$50.00</a:t>
            </a:r>
          </a:p>
        </p:txBody>
      </p:sp>
      <p:sp>
        <p:nvSpPr>
          <p:cNvPr id="24" name="TextBox 23"/>
          <p:cNvSpPr txBox="1"/>
          <p:nvPr/>
        </p:nvSpPr>
        <p:spPr>
          <a:xfrm>
            <a:off x="4800600" y="2999232"/>
            <a:ext cx="731520" cy="256032"/>
          </a:xfrm>
          <a:prstGeom prst="rect">
            <a:avLst/>
          </a:prstGeom>
          <a:noFill/>
        </p:spPr>
        <p:txBody>
          <a:bodyPr wrap="square" lIns="0" rIns="0" tIns="0" bIns="0">
            <a:spAutoFit/>
          </a:bodyPr>
          <a:lstStyle/>
          <a:p>
            <a:pPr algn="r"/>
            <a:r>
              <a:rPr sz="950" b="0" i="0">
                <a:solidFill>
                  <a:srgbClr val="64748B"/>
                </a:solidFill>
                <a:latin typeface="Segoe UI"/>
              </a:rPr>
              <a:t>100%</a:t>
            </a:r>
          </a:p>
        </p:txBody>
      </p:sp>
      <p:sp>
        <p:nvSpPr>
          <p:cNvPr id="25" name="Rounded Rectangle 24"/>
          <p:cNvSpPr/>
          <p:nvPr/>
        </p:nvSpPr>
        <p:spPr>
          <a:xfrm>
            <a:off x="777240" y="3401568"/>
            <a:ext cx="4892040" cy="402336"/>
          </a:xfrm>
          <a:prstGeom prst="roundRect">
            <a:avLst>
              <a:gd name="adj" fmla="val 5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74720"/>
            <a:ext cx="2926080" cy="256032"/>
          </a:xfrm>
          <a:prstGeom prst="rect">
            <a:avLst/>
          </a:prstGeom>
          <a:noFill/>
        </p:spPr>
        <p:txBody>
          <a:bodyPr wrap="square" lIns="0" rIns="0" tIns="0" bIns="0">
            <a:spAutoFit/>
          </a:bodyPr>
          <a:lstStyle/>
          <a:p>
            <a:pPr algn="l"/>
            <a:r>
              <a:rPr sz="1100" b="1" i="0">
                <a:solidFill>
                  <a:srgbClr val="0F172A"/>
                </a:solidFill>
                <a:latin typeface="Segoe UI"/>
              </a:rPr>
              <a:t>Host Payout (Instant MTN MoMo):</a:t>
            </a:r>
          </a:p>
        </p:txBody>
      </p:sp>
      <p:sp>
        <p:nvSpPr>
          <p:cNvPr id="27" name="TextBox 26"/>
          <p:cNvSpPr txBox="1"/>
          <p:nvPr/>
        </p:nvSpPr>
        <p:spPr>
          <a:xfrm>
            <a:off x="3840480" y="3474720"/>
            <a:ext cx="914400" cy="256032"/>
          </a:xfrm>
          <a:prstGeom prst="rect">
            <a:avLst/>
          </a:prstGeom>
          <a:noFill/>
        </p:spPr>
        <p:txBody>
          <a:bodyPr wrap="square" lIns="0" rIns="0" tIns="0" bIns="0">
            <a:spAutoFit/>
          </a:bodyPr>
          <a:lstStyle/>
          <a:p>
            <a:pPr algn="r"/>
            <a:r>
              <a:rPr sz="1150" b="1" i="0">
                <a:solidFill>
                  <a:srgbClr val="047857"/>
                </a:solidFill>
                <a:latin typeface="Segoe UI"/>
              </a:rPr>
              <a:t>$45.00</a:t>
            </a:r>
          </a:p>
        </p:txBody>
      </p:sp>
      <p:sp>
        <p:nvSpPr>
          <p:cNvPr id="28" name="TextBox 27"/>
          <p:cNvSpPr txBox="1"/>
          <p:nvPr/>
        </p:nvSpPr>
        <p:spPr>
          <a:xfrm>
            <a:off x="4800600" y="3474720"/>
            <a:ext cx="731520" cy="256032"/>
          </a:xfrm>
          <a:prstGeom prst="rect">
            <a:avLst/>
          </a:prstGeom>
          <a:noFill/>
        </p:spPr>
        <p:txBody>
          <a:bodyPr wrap="square" lIns="0" rIns="0" tIns="0" bIns="0">
            <a:spAutoFit/>
          </a:bodyPr>
          <a:lstStyle/>
          <a:p>
            <a:pPr algn="r"/>
            <a:r>
              <a:rPr sz="950" b="0" i="0">
                <a:solidFill>
                  <a:srgbClr val="64748B"/>
                </a:solidFill>
                <a:latin typeface="Segoe UI"/>
              </a:rPr>
              <a:t>90.0%</a:t>
            </a:r>
          </a:p>
        </p:txBody>
      </p:sp>
      <p:sp>
        <p:nvSpPr>
          <p:cNvPr id="29" name="Rounded Rectangle 28"/>
          <p:cNvSpPr/>
          <p:nvPr/>
        </p:nvSpPr>
        <p:spPr>
          <a:xfrm>
            <a:off x="777240" y="3877056"/>
            <a:ext cx="4892040" cy="402336"/>
          </a:xfrm>
          <a:prstGeom prst="roundRect">
            <a:avLst>
              <a:gd name="adj" fmla="val 5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950208"/>
            <a:ext cx="2926080" cy="256032"/>
          </a:xfrm>
          <a:prstGeom prst="rect">
            <a:avLst/>
          </a:prstGeom>
          <a:noFill/>
        </p:spPr>
        <p:txBody>
          <a:bodyPr wrap="square" lIns="0" rIns="0" tIns="0" bIns="0">
            <a:spAutoFit/>
          </a:bodyPr>
          <a:lstStyle/>
          <a:p>
            <a:pPr algn="l"/>
            <a:r>
              <a:rPr sz="1100" b="1" i="0">
                <a:solidFill>
                  <a:srgbClr val="0F172A"/>
                </a:solidFill>
                <a:latin typeface="Segoe UI"/>
              </a:rPr>
              <a:t>Kwan Platform Take Rate:</a:t>
            </a:r>
          </a:p>
        </p:txBody>
      </p:sp>
      <p:sp>
        <p:nvSpPr>
          <p:cNvPr id="31" name="TextBox 30"/>
          <p:cNvSpPr txBox="1"/>
          <p:nvPr/>
        </p:nvSpPr>
        <p:spPr>
          <a:xfrm>
            <a:off x="3840480" y="3950208"/>
            <a:ext cx="914400" cy="256032"/>
          </a:xfrm>
          <a:prstGeom prst="rect">
            <a:avLst/>
          </a:prstGeom>
          <a:noFill/>
        </p:spPr>
        <p:txBody>
          <a:bodyPr wrap="square" lIns="0" rIns="0" tIns="0" bIns="0">
            <a:spAutoFit/>
          </a:bodyPr>
          <a:lstStyle/>
          <a:p>
            <a:pPr algn="r"/>
            <a:r>
              <a:rPr sz="1150" b="1" i="0">
                <a:solidFill>
                  <a:srgbClr val="B45309"/>
                </a:solidFill>
                <a:latin typeface="Segoe UI"/>
              </a:rPr>
              <a:t>$5.00</a:t>
            </a:r>
          </a:p>
        </p:txBody>
      </p:sp>
      <p:sp>
        <p:nvSpPr>
          <p:cNvPr id="32" name="TextBox 31"/>
          <p:cNvSpPr txBox="1"/>
          <p:nvPr/>
        </p:nvSpPr>
        <p:spPr>
          <a:xfrm>
            <a:off x="4800600" y="3950208"/>
            <a:ext cx="731520" cy="256032"/>
          </a:xfrm>
          <a:prstGeom prst="rect">
            <a:avLst/>
          </a:prstGeom>
          <a:noFill/>
        </p:spPr>
        <p:txBody>
          <a:bodyPr wrap="square" lIns="0" rIns="0" tIns="0" bIns="0">
            <a:spAutoFit/>
          </a:bodyPr>
          <a:lstStyle/>
          <a:p>
            <a:pPr algn="r"/>
            <a:r>
              <a:rPr sz="950" b="0" i="0">
                <a:solidFill>
                  <a:srgbClr val="64748B"/>
                </a:solidFill>
                <a:latin typeface="Segoe UI"/>
              </a:rPr>
              <a:t>10.0%</a:t>
            </a:r>
          </a:p>
        </p:txBody>
      </p:sp>
      <p:sp>
        <p:nvSpPr>
          <p:cNvPr id="33" name="Rounded Rectangle 32"/>
          <p:cNvSpPr/>
          <p:nvPr/>
        </p:nvSpPr>
        <p:spPr>
          <a:xfrm>
            <a:off x="777240" y="4352544"/>
            <a:ext cx="4892040" cy="402336"/>
          </a:xfrm>
          <a:prstGeom prst="roundRect">
            <a:avLst>
              <a:gd name="adj" fmla="val 5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425696"/>
            <a:ext cx="2926080" cy="256032"/>
          </a:xfrm>
          <a:prstGeom prst="rect">
            <a:avLst/>
          </a:prstGeom>
          <a:noFill/>
        </p:spPr>
        <p:txBody>
          <a:bodyPr wrap="square" lIns="0" rIns="0" tIns="0" bIns="0">
            <a:spAutoFit/>
          </a:bodyPr>
          <a:lstStyle/>
          <a:p>
            <a:pPr algn="l"/>
            <a:r>
              <a:rPr sz="1100" b="0" i="0">
                <a:solidFill>
                  <a:srgbClr val="0F172A"/>
                </a:solidFill>
                <a:latin typeface="Segoe UI"/>
              </a:rPr>
              <a:t>Paystack Card Processing Cost:</a:t>
            </a:r>
          </a:p>
        </p:txBody>
      </p:sp>
      <p:sp>
        <p:nvSpPr>
          <p:cNvPr id="35" name="TextBox 34"/>
          <p:cNvSpPr txBox="1"/>
          <p:nvPr/>
        </p:nvSpPr>
        <p:spPr>
          <a:xfrm>
            <a:off x="3840480" y="4425696"/>
            <a:ext cx="914400" cy="256032"/>
          </a:xfrm>
          <a:prstGeom prst="rect">
            <a:avLst/>
          </a:prstGeom>
          <a:noFill/>
        </p:spPr>
        <p:txBody>
          <a:bodyPr wrap="square" lIns="0" rIns="0" tIns="0" bIns="0">
            <a:spAutoFit/>
          </a:bodyPr>
          <a:lstStyle/>
          <a:p>
            <a:pPr algn="r"/>
            <a:r>
              <a:rPr sz="1150" b="1" i="0">
                <a:solidFill>
                  <a:srgbClr val="64748B"/>
                </a:solidFill>
                <a:latin typeface="Segoe UI"/>
              </a:rPr>
              <a:t>-$1.75</a:t>
            </a:r>
          </a:p>
        </p:txBody>
      </p:sp>
      <p:sp>
        <p:nvSpPr>
          <p:cNvPr id="36" name="TextBox 35"/>
          <p:cNvSpPr txBox="1"/>
          <p:nvPr/>
        </p:nvSpPr>
        <p:spPr>
          <a:xfrm>
            <a:off x="4800600" y="4425696"/>
            <a:ext cx="731520" cy="256032"/>
          </a:xfrm>
          <a:prstGeom prst="rect">
            <a:avLst/>
          </a:prstGeom>
          <a:noFill/>
        </p:spPr>
        <p:txBody>
          <a:bodyPr wrap="square" lIns="0" rIns="0" tIns="0" bIns="0">
            <a:spAutoFit/>
          </a:bodyPr>
          <a:lstStyle/>
          <a:p>
            <a:pPr algn="r"/>
            <a:r>
              <a:rPr sz="950" b="0" i="0">
                <a:solidFill>
                  <a:srgbClr val="64748B"/>
                </a:solidFill>
                <a:latin typeface="Segoe UI"/>
              </a:rPr>
              <a:t>3.5%</a:t>
            </a:r>
          </a:p>
        </p:txBody>
      </p:sp>
      <p:sp>
        <p:nvSpPr>
          <p:cNvPr id="37" name="Rounded Rectangle 36"/>
          <p:cNvSpPr/>
          <p:nvPr/>
        </p:nvSpPr>
        <p:spPr>
          <a:xfrm>
            <a:off x="777240" y="4828032"/>
            <a:ext cx="4892040" cy="402336"/>
          </a:xfrm>
          <a:prstGeom prst="roundRect">
            <a:avLst>
              <a:gd name="adj" fmla="val 5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901184"/>
            <a:ext cx="2926080" cy="256032"/>
          </a:xfrm>
          <a:prstGeom prst="rect">
            <a:avLst/>
          </a:prstGeom>
          <a:noFill/>
        </p:spPr>
        <p:txBody>
          <a:bodyPr wrap="square" lIns="0" rIns="0" tIns="0" bIns="0">
            <a:spAutoFit/>
          </a:bodyPr>
          <a:lstStyle/>
          <a:p>
            <a:pPr algn="l"/>
            <a:r>
              <a:rPr sz="1100" b="0" i="0">
                <a:solidFill>
                  <a:srgbClr val="0F172A"/>
                </a:solidFill>
                <a:latin typeface="Segoe UI"/>
              </a:rPr>
              <a:t>Tourism Ministry Levy (1% Statutory):</a:t>
            </a:r>
          </a:p>
        </p:txBody>
      </p:sp>
      <p:sp>
        <p:nvSpPr>
          <p:cNvPr id="39" name="TextBox 38"/>
          <p:cNvSpPr txBox="1"/>
          <p:nvPr/>
        </p:nvSpPr>
        <p:spPr>
          <a:xfrm>
            <a:off x="3840480" y="4901184"/>
            <a:ext cx="914400" cy="256032"/>
          </a:xfrm>
          <a:prstGeom prst="rect">
            <a:avLst/>
          </a:prstGeom>
          <a:noFill/>
        </p:spPr>
        <p:txBody>
          <a:bodyPr wrap="square" lIns="0" rIns="0" tIns="0" bIns="0">
            <a:spAutoFit/>
          </a:bodyPr>
          <a:lstStyle/>
          <a:p>
            <a:pPr algn="r"/>
            <a:r>
              <a:rPr sz="1150" b="1" i="0">
                <a:solidFill>
                  <a:srgbClr val="64748B"/>
                </a:solidFill>
                <a:latin typeface="Segoe UI"/>
              </a:rPr>
              <a:t>-$0.50</a:t>
            </a:r>
          </a:p>
        </p:txBody>
      </p:sp>
      <p:sp>
        <p:nvSpPr>
          <p:cNvPr id="40" name="TextBox 39"/>
          <p:cNvSpPr txBox="1"/>
          <p:nvPr/>
        </p:nvSpPr>
        <p:spPr>
          <a:xfrm>
            <a:off x="4800600" y="4901184"/>
            <a:ext cx="731520" cy="256032"/>
          </a:xfrm>
          <a:prstGeom prst="rect">
            <a:avLst/>
          </a:prstGeom>
          <a:noFill/>
        </p:spPr>
        <p:txBody>
          <a:bodyPr wrap="square" lIns="0" rIns="0" tIns="0" bIns="0">
            <a:spAutoFit/>
          </a:bodyPr>
          <a:lstStyle/>
          <a:p>
            <a:pPr algn="r"/>
            <a:r>
              <a:rPr sz="950" b="0" i="0">
                <a:solidFill>
                  <a:srgbClr val="64748B"/>
                </a:solidFill>
                <a:latin typeface="Segoe UI"/>
              </a:rPr>
              <a:t>1.0%</a:t>
            </a:r>
          </a:p>
        </p:txBody>
      </p:sp>
      <p:sp>
        <p:nvSpPr>
          <p:cNvPr id="41" name="Rounded Rectangle 40"/>
          <p:cNvSpPr/>
          <p:nvPr/>
        </p:nvSpPr>
        <p:spPr>
          <a:xfrm>
            <a:off x="777240" y="5303520"/>
            <a:ext cx="4892040" cy="402336"/>
          </a:xfrm>
          <a:prstGeom prst="roundRect">
            <a:avLst>
              <a:gd name="adj" fmla="val 5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376672"/>
            <a:ext cx="2926080" cy="256032"/>
          </a:xfrm>
          <a:prstGeom prst="rect">
            <a:avLst/>
          </a:prstGeom>
          <a:noFill/>
        </p:spPr>
        <p:txBody>
          <a:bodyPr wrap="square" lIns="0" rIns="0" tIns="0" bIns="0">
            <a:spAutoFit/>
          </a:bodyPr>
          <a:lstStyle/>
          <a:p>
            <a:pPr algn="l"/>
            <a:r>
              <a:rPr sz="1100" b="1" i="0">
                <a:solidFill>
                  <a:srgbClr val="0F172A"/>
                </a:solidFill>
                <a:latin typeface="Segoe UI"/>
              </a:rPr>
              <a:t>Net Platform Profit per Tour:</a:t>
            </a:r>
          </a:p>
        </p:txBody>
      </p:sp>
      <p:sp>
        <p:nvSpPr>
          <p:cNvPr id="43" name="TextBox 42"/>
          <p:cNvSpPr txBox="1"/>
          <p:nvPr/>
        </p:nvSpPr>
        <p:spPr>
          <a:xfrm>
            <a:off x="3840480" y="5376672"/>
            <a:ext cx="914400" cy="256032"/>
          </a:xfrm>
          <a:prstGeom prst="rect">
            <a:avLst/>
          </a:prstGeom>
          <a:noFill/>
        </p:spPr>
        <p:txBody>
          <a:bodyPr wrap="square" lIns="0" rIns="0" tIns="0" bIns="0">
            <a:spAutoFit/>
          </a:bodyPr>
          <a:lstStyle/>
          <a:p>
            <a:pPr algn="r"/>
            <a:r>
              <a:rPr sz="1150" b="1" i="0">
                <a:solidFill>
                  <a:srgbClr val="047857"/>
                </a:solidFill>
                <a:latin typeface="Segoe UI"/>
              </a:rPr>
              <a:t>+$2.75</a:t>
            </a:r>
          </a:p>
        </p:txBody>
      </p:sp>
      <p:sp>
        <p:nvSpPr>
          <p:cNvPr id="44" name="TextBox 43"/>
          <p:cNvSpPr txBox="1"/>
          <p:nvPr/>
        </p:nvSpPr>
        <p:spPr>
          <a:xfrm>
            <a:off x="4800600" y="5376672"/>
            <a:ext cx="731520" cy="256032"/>
          </a:xfrm>
          <a:prstGeom prst="rect">
            <a:avLst/>
          </a:prstGeom>
          <a:noFill/>
        </p:spPr>
        <p:txBody>
          <a:bodyPr wrap="square" lIns="0" rIns="0" tIns="0" bIns="0">
            <a:spAutoFit/>
          </a:bodyPr>
          <a:lstStyle/>
          <a:p>
            <a:pPr algn="r"/>
            <a:r>
              <a:rPr sz="950" b="0" i="0">
                <a:solidFill>
                  <a:srgbClr val="64748B"/>
                </a:solidFill>
                <a:latin typeface="Segoe UI"/>
              </a:rPr>
              <a:t>55%–60%</a:t>
            </a:r>
          </a:p>
        </p:txBody>
      </p:sp>
      <p:sp>
        <p:nvSpPr>
          <p:cNvPr id="45" name="Rounded Rectangle 44"/>
          <p:cNvSpPr/>
          <p:nvPr/>
        </p:nvSpPr>
        <p:spPr>
          <a:xfrm>
            <a:off x="6263640" y="1874519"/>
            <a:ext cx="5349240" cy="416052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63640" y="1874519"/>
            <a:ext cx="534924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492240" y="2057400"/>
            <a:ext cx="3108960" cy="256032"/>
          </a:xfrm>
          <a:prstGeom prst="roundRect">
            <a:avLst>
              <a:gd name="adj" fmla="val 50000"/>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92240" y="2075688"/>
            <a:ext cx="3108960" cy="219456"/>
          </a:xfrm>
          <a:prstGeom prst="rect">
            <a:avLst/>
          </a:prstGeom>
          <a:noFill/>
        </p:spPr>
        <p:txBody>
          <a:bodyPr wrap="square" lIns="0" rIns="0" tIns="0" bIns="0">
            <a:spAutoFit/>
          </a:bodyPr>
          <a:lstStyle/>
          <a:p>
            <a:pPr algn="ctr"/>
            <a:r>
              <a:rPr sz="900" b="1" i="0">
                <a:solidFill>
                  <a:srgbClr val="B45309"/>
                </a:solidFill>
                <a:latin typeface="Segoe UI"/>
              </a:rPr>
              <a:t>ASSET-LIGHT MARKETPLACE ADVANTAGE</a:t>
            </a:r>
          </a:p>
        </p:txBody>
      </p:sp>
      <p:sp>
        <p:nvSpPr>
          <p:cNvPr id="49" name="TextBox 48"/>
          <p:cNvSpPr txBox="1"/>
          <p:nvPr/>
        </p:nvSpPr>
        <p:spPr>
          <a:xfrm>
            <a:off x="6492240" y="2423160"/>
            <a:ext cx="4846320" cy="320040"/>
          </a:xfrm>
          <a:prstGeom prst="rect">
            <a:avLst/>
          </a:prstGeom>
          <a:noFill/>
        </p:spPr>
        <p:txBody>
          <a:bodyPr wrap="square" lIns="0" rIns="0" tIns="0" bIns="0">
            <a:spAutoFit/>
          </a:bodyPr>
          <a:lstStyle/>
          <a:p>
            <a:pPr algn="l"/>
            <a:r>
              <a:rPr sz="1600" b="1" i="0">
                <a:solidFill>
                  <a:srgbClr val="0F172A"/>
                </a:solidFill>
                <a:latin typeface="Segoe UI"/>
              </a:rPr>
              <a:t>Why Kwan Scales Profitably</a:t>
            </a:r>
          </a:p>
        </p:txBody>
      </p:sp>
      <p:sp>
        <p:nvSpPr>
          <p:cNvPr id="50" name="Rectangle 49"/>
          <p:cNvSpPr/>
          <p:nvPr/>
        </p:nvSpPr>
        <p:spPr>
          <a:xfrm>
            <a:off x="6492240" y="2788920"/>
            <a:ext cx="484632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492240" y="2926080"/>
            <a:ext cx="4892040" cy="64008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29400" y="3017520"/>
            <a:ext cx="4617720" cy="219456"/>
          </a:xfrm>
          <a:prstGeom prst="rect">
            <a:avLst/>
          </a:prstGeom>
          <a:noFill/>
        </p:spPr>
        <p:txBody>
          <a:bodyPr wrap="square" lIns="0" rIns="0" tIns="0" bIns="0">
            <a:spAutoFit/>
          </a:bodyPr>
          <a:lstStyle/>
          <a:p>
            <a:pPr algn="l"/>
            <a:r>
              <a:rPr sz="1150" b="1" i="0">
                <a:solidFill>
                  <a:srgbClr val="0F172A"/>
                </a:solidFill>
                <a:latin typeface="Segoe UI"/>
              </a:rPr>
              <a:t>📈  Zero Fleet Assets</a:t>
            </a:r>
          </a:p>
        </p:txBody>
      </p:sp>
      <p:sp>
        <p:nvSpPr>
          <p:cNvPr id="53" name="TextBox 52"/>
          <p:cNvSpPr txBox="1"/>
          <p:nvPr/>
        </p:nvSpPr>
        <p:spPr>
          <a:xfrm>
            <a:off x="6629400" y="3255264"/>
            <a:ext cx="4617720" cy="256032"/>
          </a:xfrm>
          <a:prstGeom prst="rect">
            <a:avLst/>
          </a:prstGeom>
          <a:noFill/>
        </p:spPr>
        <p:txBody>
          <a:bodyPr wrap="square" lIns="0" rIns="0" tIns="0" bIns="0">
            <a:spAutoFit/>
          </a:bodyPr>
          <a:lstStyle/>
          <a:p>
            <a:pPr algn="l"/>
            <a:r>
              <a:rPr sz="1000" b="0" i="0">
                <a:solidFill>
                  <a:srgbClr val="334155"/>
                </a:solidFill>
                <a:latin typeface="Segoe UI"/>
              </a:rPr>
              <a:t>Pure software marketplace connecting diaspora demand to verified hosts with zero bus leases or guide payroll.</a:t>
            </a:r>
          </a:p>
        </p:txBody>
      </p:sp>
      <p:sp>
        <p:nvSpPr>
          <p:cNvPr id="54" name="Rounded Rectangle 53"/>
          <p:cNvSpPr/>
          <p:nvPr/>
        </p:nvSpPr>
        <p:spPr>
          <a:xfrm>
            <a:off x="6492240" y="3657600"/>
            <a:ext cx="4892040" cy="64008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29400" y="3749039"/>
            <a:ext cx="4617720" cy="219456"/>
          </a:xfrm>
          <a:prstGeom prst="rect">
            <a:avLst/>
          </a:prstGeom>
          <a:noFill/>
        </p:spPr>
        <p:txBody>
          <a:bodyPr wrap="square" lIns="0" rIns="0" tIns="0" bIns="0">
            <a:spAutoFit/>
          </a:bodyPr>
          <a:lstStyle/>
          <a:p>
            <a:pPr algn="l"/>
            <a:r>
              <a:rPr sz="1150" b="1" i="0">
                <a:solidFill>
                  <a:srgbClr val="0F172A"/>
                </a:solidFill>
                <a:latin typeface="Segoe UI"/>
              </a:rPr>
              <a:t>📈  3.9× Local Living Wage</a:t>
            </a:r>
          </a:p>
        </p:txBody>
      </p:sp>
      <p:sp>
        <p:nvSpPr>
          <p:cNvPr id="56" name="TextBox 55"/>
          <p:cNvSpPr txBox="1"/>
          <p:nvPr/>
        </p:nvSpPr>
        <p:spPr>
          <a:xfrm>
            <a:off x="6629400" y="3986784"/>
            <a:ext cx="4617720" cy="256032"/>
          </a:xfrm>
          <a:prstGeom prst="rect">
            <a:avLst/>
          </a:prstGeom>
          <a:noFill/>
        </p:spPr>
        <p:txBody>
          <a:bodyPr wrap="square" lIns="0" rIns="0" tIns="0" bIns="0">
            <a:spAutoFit/>
          </a:bodyPr>
          <a:lstStyle/>
          <a:p>
            <a:pPr algn="l"/>
            <a:r>
              <a:rPr sz="1000" b="0" i="0">
                <a:solidFill>
                  <a:srgbClr val="334155"/>
                </a:solidFill>
                <a:latin typeface="Segoe UI"/>
              </a:rPr>
              <a:t>Host takes home GHS 4,788/mo at 14 tours—immediate daily liquidity drives organic host recruitment.</a:t>
            </a:r>
          </a:p>
        </p:txBody>
      </p:sp>
      <p:sp>
        <p:nvSpPr>
          <p:cNvPr id="57" name="Rounded Rectangle 56"/>
          <p:cNvSpPr/>
          <p:nvPr/>
        </p:nvSpPr>
        <p:spPr>
          <a:xfrm>
            <a:off x="6492240" y="4389120"/>
            <a:ext cx="4892040" cy="64008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29400" y="4480560"/>
            <a:ext cx="4617720" cy="219456"/>
          </a:xfrm>
          <a:prstGeom prst="rect">
            <a:avLst/>
          </a:prstGeom>
          <a:noFill/>
        </p:spPr>
        <p:txBody>
          <a:bodyPr wrap="square" lIns="0" rIns="0" tIns="0" bIns="0">
            <a:spAutoFit/>
          </a:bodyPr>
          <a:lstStyle/>
          <a:p>
            <a:pPr algn="l"/>
            <a:r>
              <a:rPr sz="1150" b="1" i="0">
                <a:solidFill>
                  <a:srgbClr val="0F172A"/>
                </a:solidFill>
                <a:latin typeface="Segoe UI"/>
              </a:rPr>
              <a:t>📈  &lt;48-Hour Payback</a:t>
            </a:r>
          </a:p>
        </p:txBody>
      </p:sp>
      <p:sp>
        <p:nvSpPr>
          <p:cNvPr id="59" name="TextBox 58"/>
          <p:cNvSpPr txBox="1"/>
          <p:nvPr/>
        </p:nvSpPr>
        <p:spPr>
          <a:xfrm>
            <a:off x="6629400" y="4718304"/>
            <a:ext cx="4617720" cy="256032"/>
          </a:xfrm>
          <a:prstGeom prst="rect">
            <a:avLst/>
          </a:prstGeom>
          <a:noFill/>
        </p:spPr>
        <p:txBody>
          <a:bodyPr wrap="square" lIns="0" rIns="0" tIns="0" bIns="0">
            <a:spAutoFit/>
          </a:bodyPr>
          <a:lstStyle/>
          <a:p>
            <a:pPr algn="l"/>
            <a:r>
              <a:rPr sz="1000" b="0" i="0">
                <a:solidFill>
                  <a:srgbClr val="334155"/>
                </a:solidFill>
                <a:latin typeface="Segoe UI"/>
              </a:rPr>
              <a:t>Customer acquisition cost ($14) is recouped on the traveler's second booking via hostel QR cards.</a:t>
            </a:r>
          </a:p>
        </p:txBody>
      </p:sp>
      <p:sp>
        <p:nvSpPr>
          <p:cNvPr id="60" name="Rounded Rectangle 59"/>
          <p:cNvSpPr/>
          <p:nvPr/>
        </p:nvSpPr>
        <p:spPr>
          <a:xfrm>
            <a:off x="6492240" y="5120640"/>
            <a:ext cx="4892040" cy="64008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29400" y="5212080"/>
            <a:ext cx="4617720" cy="219456"/>
          </a:xfrm>
          <a:prstGeom prst="rect">
            <a:avLst/>
          </a:prstGeom>
          <a:noFill/>
        </p:spPr>
        <p:txBody>
          <a:bodyPr wrap="square" lIns="0" rIns="0" tIns="0" bIns="0">
            <a:spAutoFit/>
          </a:bodyPr>
          <a:lstStyle/>
          <a:p>
            <a:pPr algn="l"/>
            <a:r>
              <a:rPr sz="1150" b="1" i="0">
                <a:solidFill>
                  <a:srgbClr val="0F172A"/>
                </a:solidFill>
                <a:latin typeface="Segoe UI"/>
              </a:rPr>
              <a:t>📈  Tour Operator B2B</a:t>
            </a:r>
          </a:p>
        </p:txBody>
      </p:sp>
      <p:sp>
        <p:nvSpPr>
          <p:cNvPr id="62" name="TextBox 61"/>
          <p:cNvSpPr txBox="1"/>
          <p:nvPr/>
        </p:nvSpPr>
        <p:spPr>
          <a:xfrm>
            <a:off x="6629400" y="5449824"/>
            <a:ext cx="4617720" cy="256032"/>
          </a:xfrm>
          <a:prstGeom prst="rect">
            <a:avLst/>
          </a:prstGeom>
          <a:noFill/>
        </p:spPr>
        <p:txBody>
          <a:bodyPr wrap="square" lIns="0" rIns="0" tIns="0" bIns="0">
            <a:spAutoFit/>
          </a:bodyPr>
          <a:lstStyle/>
          <a:p>
            <a:pPr algn="l"/>
            <a:r>
              <a:rPr sz="1000" b="0" i="0">
                <a:solidFill>
                  <a:srgbClr val="334155"/>
                </a:solidFill>
                <a:latin typeface="Segoe UI"/>
              </a:rPr>
              <a:t>10%–15% commission from curated operators utilizing Kwan's escrow and Mobile Money rails.</a:t>
            </a:r>
          </a:p>
        </p:txBody>
      </p:sp>
      <p:sp>
        <p:nvSpPr>
          <p:cNvPr id="63" name="Rounded Rectangle 62"/>
          <p:cNvSpPr/>
          <p:nvPr/>
        </p:nvSpPr>
        <p:spPr>
          <a:xfrm>
            <a:off x="548640" y="6217920"/>
            <a:ext cx="11091672" cy="420624"/>
          </a:xfrm>
          <a:prstGeom prst="roundRect">
            <a:avLst>
              <a:gd name="adj" fmla="val 1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658368" y="6309359"/>
            <a:ext cx="36576" cy="23774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68096" y="6300216"/>
            <a:ext cx="10762488" cy="256032"/>
          </a:xfrm>
          <a:prstGeom prst="rect">
            <a:avLst/>
          </a:prstGeom>
          <a:noFill/>
        </p:spPr>
        <p:txBody>
          <a:bodyPr wrap="square" lIns="0" rIns="0" tIns="0" bIns="0">
            <a:spAutoFit/>
          </a:bodyPr>
          <a:lstStyle/>
          <a:p>
            <a:pPr algn="l"/>
            <a:r>
              <a:rPr sz="1050" b="1" i="0">
                <a:solidFill>
                  <a:srgbClr val="F5A623"/>
                </a:solidFill>
                <a:latin typeface="Segoe UI"/>
              </a:rPr>
              <a:t>💵 PROFITABLE FROM DAY ONE: 55%-60% gross contribution margin on net revenue without burning venture subsidies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1143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143000"/>
            <a:ext cx="1219169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143000"/>
            <a:ext cx="2926080" cy="3200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
            <a:ext cx="402336" cy="237744"/>
          </a:xfrm>
          <a:prstGeom prst="roundRect">
            <a:avLst>
              <a:gd name="adj" fmla="val 5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79"/>
            <a:ext cx="402336" cy="201168"/>
          </a:xfrm>
          <a:prstGeom prst="rect">
            <a:avLst/>
          </a:prstGeom>
          <a:noFill/>
        </p:spPr>
        <p:txBody>
          <a:bodyPr wrap="square" lIns="0" rIns="0" tIns="0" bIns="0">
            <a:spAutoFit/>
          </a:bodyPr>
          <a:lstStyle/>
          <a:p>
            <a:pPr algn="ctr"/>
            <a:r>
              <a:rPr sz="950" b="1" i="0">
                <a:solidFill>
                  <a:srgbClr val="FFFFFF"/>
                </a:solidFill>
                <a:latin typeface="Segoe UI"/>
              </a:rPr>
              <a:t>08</a:t>
            </a:r>
          </a:p>
        </p:txBody>
      </p:sp>
      <p:sp>
        <p:nvSpPr>
          <p:cNvPr id="9" name="TextBox 8"/>
          <p:cNvSpPr txBox="1"/>
          <p:nvPr/>
        </p:nvSpPr>
        <p:spPr>
          <a:xfrm>
            <a:off x="1051560" y="164592"/>
            <a:ext cx="7315200" cy="237744"/>
          </a:xfrm>
          <a:prstGeom prst="rect">
            <a:avLst/>
          </a:prstGeom>
          <a:noFill/>
        </p:spPr>
        <p:txBody>
          <a:bodyPr wrap="square" lIns="0" rIns="0" tIns="0" bIns="0">
            <a:spAutoFit/>
          </a:bodyPr>
          <a:lstStyle/>
          <a:p>
            <a:pPr algn="l"/>
            <a:r>
              <a:rPr sz="1000" b="1" i="0">
                <a:solidFill>
                  <a:srgbClr val="B45309"/>
                </a:solidFill>
                <a:latin typeface="Segoe UI"/>
              </a:rPr>
              <a:t>ROADMAP &amp; VISION</a:t>
            </a:r>
          </a:p>
        </p:txBody>
      </p:sp>
      <p:sp>
        <p:nvSpPr>
          <p:cNvPr id="10" name="TextBox 9"/>
          <p:cNvSpPr txBox="1"/>
          <p:nvPr/>
        </p:nvSpPr>
        <p:spPr>
          <a:xfrm>
            <a:off x="548640" y="438912"/>
            <a:ext cx="10241280" cy="640080"/>
          </a:xfrm>
          <a:prstGeom prst="rect">
            <a:avLst/>
          </a:prstGeom>
          <a:noFill/>
        </p:spPr>
        <p:txBody>
          <a:bodyPr wrap="square" lIns="0" rIns="0" tIns="0" bIns="0">
            <a:spAutoFit/>
          </a:bodyPr>
          <a:lstStyle/>
          <a:p>
            <a:pPr algn="l"/>
            <a:r>
              <a:rPr sz="2300" b="1" i="0">
                <a:solidFill>
                  <a:srgbClr val="0F172A"/>
                </a:solidFill>
                <a:latin typeface="Segoe UI"/>
              </a:rPr>
              <a:t>Clear 90-Day Execution Runway into Africa's Peak Travel Season</a:t>
            </a:r>
          </a:p>
        </p:txBody>
      </p:sp>
      <p:sp>
        <p:nvSpPr>
          <p:cNvPr id="11" name="Rounded Rectangle 10"/>
          <p:cNvSpPr/>
          <p:nvPr/>
        </p:nvSpPr>
        <p:spPr>
          <a:xfrm>
            <a:off x="11018520" y="164592"/>
            <a:ext cx="804672" cy="804672"/>
          </a:xfrm>
          <a:prstGeom prst="roundRect">
            <a:avLst>
              <a:gd name="adj" fmla="val 15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wan_logo_square_white_bg.png"/>
          <p:cNvPicPr>
            <a:picLocks noChangeAspect="1"/>
          </p:cNvPicPr>
          <p:nvPr/>
        </p:nvPicPr>
        <p:blipFill>
          <a:blip r:embed="rId2"/>
          <a:stretch>
            <a:fillRect/>
          </a:stretch>
        </p:blipFill>
        <p:spPr>
          <a:xfrm>
            <a:off x="11064240" y="210312"/>
            <a:ext cx="713232" cy="713232"/>
          </a:xfrm>
          <a:prstGeom prst="rect">
            <a:avLst/>
          </a:prstGeom>
        </p:spPr>
      </p:pic>
      <p:sp>
        <p:nvSpPr>
          <p:cNvPr id="13" name="Rounded Rectangle 12"/>
          <p:cNvSpPr/>
          <p:nvPr/>
        </p:nvSpPr>
        <p:spPr>
          <a:xfrm>
            <a:off x="548640" y="1280160"/>
            <a:ext cx="11091672" cy="411480"/>
          </a:xfrm>
          <a:prstGeom prst="roundRect">
            <a:avLst>
              <a:gd name="adj" fmla="val 8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362456"/>
            <a:ext cx="10689336" cy="246888"/>
          </a:xfrm>
          <a:prstGeom prst="rect">
            <a:avLst/>
          </a:prstGeom>
          <a:noFill/>
        </p:spPr>
        <p:txBody>
          <a:bodyPr wrap="square" lIns="0" rIns="0" tIns="0" bIns="0">
            <a:spAutoFit/>
          </a:bodyPr>
          <a:lstStyle/>
          <a:p>
            <a:pPr algn="l"/>
            <a:r>
              <a:rPr sz="1100" b="1" i="0">
                <a:solidFill>
                  <a:srgbClr val="B45309"/>
                </a:solidFill>
                <a:latin typeface="Segoe UI"/>
              </a:rPr>
              <a:t>🚀 EXECUTION HORIZON: Prove the trust loop in Ghana, then expand through high-density cultural corridors.</a:t>
            </a:r>
          </a:p>
        </p:txBody>
      </p:sp>
      <p:sp>
        <p:nvSpPr>
          <p:cNvPr id="15" name="Rounded Rectangle 14"/>
          <p:cNvSpPr/>
          <p:nvPr/>
        </p:nvSpPr>
        <p:spPr>
          <a:xfrm>
            <a:off x="548640" y="1874519"/>
            <a:ext cx="3493008" cy="283464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874519"/>
            <a:ext cx="3493008"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2011680"/>
            <a:ext cx="3127248" cy="256032"/>
          </a:xfrm>
          <a:prstGeom prst="roundRect">
            <a:avLst>
              <a:gd name="adj" fmla="val 50000"/>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029968"/>
            <a:ext cx="3127248" cy="219456"/>
          </a:xfrm>
          <a:prstGeom prst="rect">
            <a:avLst/>
          </a:prstGeom>
          <a:noFill/>
        </p:spPr>
        <p:txBody>
          <a:bodyPr wrap="square" lIns="0" rIns="0" tIns="0" bIns="0">
            <a:spAutoFit/>
          </a:bodyPr>
          <a:lstStyle/>
          <a:p>
            <a:pPr algn="ctr"/>
            <a:r>
              <a:rPr sz="850" b="1" i="0">
                <a:solidFill>
                  <a:srgbClr val="B45309"/>
                </a:solidFill>
                <a:latin typeface="Segoe UI"/>
              </a:rPr>
              <a:t>PHASE 1 · PROVE THE TRUST LOOP</a:t>
            </a:r>
          </a:p>
        </p:txBody>
      </p:sp>
      <p:sp>
        <p:nvSpPr>
          <p:cNvPr id="19" name="TextBox 18"/>
          <p:cNvSpPr txBox="1"/>
          <p:nvPr/>
        </p:nvSpPr>
        <p:spPr>
          <a:xfrm>
            <a:off x="731520" y="2304288"/>
            <a:ext cx="3127248" cy="256032"/>
          </a:xfrm>
          <a:prstGeom prst="rect">
            <a:avLst/>
          </a:prstGeom>
          <a:noFill/>
        </p:spPr>
        <p:txBody>
          <a:bodyPr wrap="square" lIns="0" rIns="0" tIns="0" bIns="0">
            <a:spAutoFit/>
          </a:bodyPr>
          <a:lstStyle/>
          <a:p>
            <a:pPr algn="l"/>
            <a:r>
              <a:rPr sz="1300" b="1" i="0">
                <a:solidFill>
                  <a:srgbClr val="0F172A"/>
                </a:solidFill>
                <a:latin typeface="Segoe UI"/>
              </a:rPr>
              <a:t>Sept – Oct 2026</a:t>
            </a:r>
          </a:p>
        </p:txBody>
      </p:sp>
      <p:sp>
        <p:nvSpPr>
          <p:cNvPr id="20" name="Rectangle 19"/>
          <p:cNvSpPr/>
          <p:nvPr/>
        </p:nvSpPr>
        <p:spPr>
          <a:xfrm>
            <a:off x="731520" y="2596896"/>
            <a:ext cx="312724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706624"/>
            <a:ext cx="3127248" cy="1874519"/>
          </a:xfrm>
          <a:prstGeom prst="rect">
            <a:avLst/>
          </a:prstGeom>
          <a:noFill/>
        </p:spPr>
        <p:txBody>
          <a:bodyPr wrap="square" lIns="0" rIns="0" tIns="0" bIns="0">
            <a:spAutoFit/>
          </a:bodyPr>
          <a:lstStyle/>
          <a:p>
            <a:pPr algn="l"/>
            <a:r>
              <a:rPr sz="1050" b="0" i="0">
                <a:solidFill>
                  <a:srgbClr val="334155"/>
                </a:solidFill>
                <a:latin typeface="Segoe UI"/>
              </a:rPr>
              <a:t>•  Complete Paystack MoMo automated transfer sandbox integration.
•  Onboard first 20 verified hosts across Ga-Mashie &amp; Nkrumah Park.
•  Deploy scan-to-book QR cards in 5 top partner hostels in Osu &amp; Jamestown.</a:t>
            </a:r>
          </a:p>
        </p:txBody>
      </p:sp>
      <p:sp>
        <p:nvSpPr>
          <p:cNvPr id="22" name="Rounded Rectangle 21"/>
          <p:cNvSpPr/>
          <p:nvPr/>
        </p:nvSpPr>
        <p:spPr>
          <a:xfrm>
            <a:off x="4370831" y="1874519"/>
            <a:ext cx="3493008" cy="283464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1" y="1874519"/>
            <a:ext cx="3493008" cy="45720"/>
          </a:xfrm>
          <a:prstGeom prst="rect">
            <a:avLst/>
          </a:prstGeom>
          <a:solidFill>
            <a:srgbClr val="E0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553712" y="2011680"/>
            <a:ext cx="3127248" cy="256032"/>
          </a:xfrm>
          <a:prstGeom prst="roundRect">
            <a:avLst>
              <a:gd name="adj" fmla="val 50000"/>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53712" y="2029968"/>
            <a:ext cx="3127248" cy="219456"/>
          </a:xfrm>
          <a:prstGeom prst="rect">
            <a:avLst/>
          </a:prstGeom>
          <a:noFill/>
        </p:spPr>
        <p:txBody>
          <a:bodyPr wrap="square" lIns="0" rIns="0" tIns="0" bIns="0">
            <a:spAutoFit/>
          </a:bodyPr>
          <a:lstStyle/>
          <a:p>
            <a:pPr algn="ctr"/>
            <a:r>
              <a:rPr sz="850" b="1" i="0">
                <a:solidFill>
                  <a:srgbClr val="C2410C"/>
                </a:solidFill>
                <a:latin typeface="Segoe UI"/>
              </a:rPr>
              <a:t>PHASE 2 · GHANA CORRIDOR SCALE</a:t>
            </a:r>
          </a:p>
        </p:txBody>
      </p:sp>
      <p:sp>
        <p:nvSpPr>
          <p:cNvPr id="26" name="TextBox 25"/>
          <p:cNvSpPr txBox="1"/>
          <p:nvPr/>
        </p:nvSpPr>
        <p:spPr>
          <a:xfrm>
            <a:off x="4553712" y="2304288"/>
            <a:ext cx="3127248" cy="256032"/>
          </a:xfrm>
          <a:prstGeom prst="rect">
            <a:avLst/>
          </a:prstGeom>
          <a:noFill/>
        </p:spPr>
        <p:txBody>
          <a:bodyPr wrap="square" lIns="0" rIns="0" tIns="0" bIns="0">
            <a:spAutoFit/>
          </a:bodyPr>
          <a:lstStyle/>
          <a:p>
            <a:pPr algn="l"/>
            <a:r>
              <a:rPr sz="1300" b="1" i="0">
                <a:solidFill>
                  <a:srgbClr val="0F172A"/>
                </a:solidFill>
                <a:latin typeface="Segoe UI"/>
              </a:rPr>
              <a:t>Nov 2026 – 2027</a:t>
            </a:r>
          </a:p>
        </p:txBody>
      </p:sp>
      <p:sp>
        <p:nvSpPr>
          <p:cNvPr id="27" name="Rectangle 26"/>
          <p:cNvSpPr/>
          <p:nvPr/>
        </p:nvSpPr>
        <p:spPr>
          <a:xfrm>
            <a:off x="4553712" y="2596896"/>
            <a:ext cx="312724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53712" y="2706624"/>
            <a:ext cx="3127248" cy="1874519"/>
          </a:xfrm>
          <a:prstGeom prst="rect">
            <a:avLst/>
          </a:prstGeom>
          <a:noFill/>
        </p:spPr>
        <p:txBody>
          <a:bodyPr wrap="square" lIns="0" rIns="0" tIns="0" bIns="0">
            <a:spAutoFit/>
          </a:bodyPr>
          <a:lstStyle/>
          <a:p>
            <a:pPr algn="l"/>
            <a:r>
              <a:rPr sz="1050" b="0" i="0">
                <a:solidFill>
                  <a:srgbClr val="334155"/>
                </a:solidFill>
                <a:latin typeface="Segoe UI"/>
              </a:rPr>
              <a:t>•  Grow recurring demand through diaspora travel, festivals, and trusted local partnerships.
•  Grow transaction volume while keeping host payouts transparent and immediate.
•  Build partnerships with cultural institutions, hostels, and curated travel operators.</a:t>
            </a:r>
          </a:p>
        </p:txBody>
      </p:sp>
      <p:sp>
        <p:nvSpPr>
          <p:cNvPr id="29" name="Rounded Rectangle 28"/>
          <p:cNvSpPr/>
          <p:nvPr/>
        </p:nvSpPr>
        <p:spPr>
          <a:xfrm>
            <a:off x="8193023" y="1874519"/>
            <a:ext cx="3493008" cy="283464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93023" y="1874519"/>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375903" y="2011680"/>
            <a:ext cx="3127248" cy="256032"/>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75903" y="2029968"/>
            <a:ext cx="3127248" cy="219456"/>
          </a:xfrm>
          <a:prstGeom prst="rect">
            <a:avLst/>
          </a:prstGeom>
          <a:noFill/>
        </p:spPr>
        <p:txBody>
          <a:bodyPr wrap="square" lIns="0" rIns="0" tIns="0" bIns="0">
            <a:spAutoFit/>
          </a:bodyPr>
          <a:lstStyle/>
          <a:p>
            <a:pPr algn="ctr"/>
            <a:r>
              <a:rPr sz="850" b="1" i="0">
                <a:solidFill>
                  <a:srgbClr val="047857"/>
                </a:solidFill>
                <a:latin typeface="Segoe UI"/>
              </a:rPr>
              <a:t>PHASE 3 · REGIONAL SCALE</a:t>
            </a:r>
          </a:p>
        </p:txBody>
      </p:sp>
      <p:sp>
        <p:nvSpPr>
          <p:cNvPr id="33" name="TextBox 32"/>
          <p:cNvSpPr txBox="1"/>
          <p:nvPr/>
        </p:nvSpPr>
        <p:spPr>
          <a:xfrm>
            <a:off x="8375903" y="2304288"/>
            <a:ext cx="3127248" cy="256032"/>
          </a:xfrm>
          <a:prstGeom prst="rect">
            <a:avLst/>
          </a:prstGeom>
          <a:noFill/>
        </p:spPr>
        <p:txBody>
          <a:bodyPr wrap="square" lIns="0" rIns="0" tIns="0" bIns="0">
            <a:spAutoFit/>
          </a:bodyPr>
          <a:lstStyle/>
          <a:p>
            <a:pPr algn="l"/>
            <a:r>
              <a:rPr sz="1300" b="1" i="0">
                <a:solidFill>
                  <a:srgbClr val="0F172A"/>
                </a:solidFill>
                <a:latin typeface="Segoe UI"/>
              </a:rPr>
              <a:t>2027 &amp; Beyond</a:t>
            </a:r>
          </a:p>
        </p:txBody>
      </p:sp>
      <p:sp>
        <p:nvSpPr>
          <p:cNvPr id="34" name="Rectangle 33"/>
          <p:cNvSpPr/>
          <p:nvPr/>
        </p:nvSpPr>
        <p:spPr>
          <a:xfrm>
            <a:off x="8375903" y="2596896"/>
            <a:ext cx="3127248"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3" y="2706624"/>
            <a:ext cx="3127248" cy="1874519"/>
          </a:xfrm>
          <a:prstGeom prst="rect">
            <a:avLst/>
          </a:prstGeom>
          <a:noFill/>
        </p:spPr>
        <p:txBody>
          <a:bodyPr wrap="square" lIns="0" rIns="0" tIns="0" bIns="0">
            <a:spAutoFit/>
          </a:bodyPr>
          <a:lstStyle/>
          <a:p>
            <a:pPr algn="l"/>
            <a:r>
              <a:rPr sz="1050" b="0" i="0">
                <a:solidFill>
                  <a:srgbClr val="334155"/>
                </a:solidFill>
                <a:latin typeface="Segoe UI"/>
              </a:rPr>
              <a:t>•  Expand along Cape Coast (Castle pilgrimage) &amp; Kumasi (Kente weaving).
•  Scale to 500 verified grassroots cultural hosts across Ghana.
•  Pilot cross-border Lagos-Accra Mobile Money travel corridor.</a:t>
            </a:r>
          </a:p>
        </p:txBody>
      </p:sp>
      <p:sp>
        <p:nvSpPr>
          <p:cNvPr id="36" name="Rounded Rectangle 35"/>
          <p:cNvSpPr/>
          <p:nvPr/>
        </p:nvSpPr>
        <p:spPr>
          <a:xfrm>
            <a:off x="548640" y="4846320"/>
            <a:ext cx="11091672" cy="1280160"/>
          </a:xfrm>
          <a:prstGeom prst="roundRect">
            <a:avLst>
              <a:gd name="adj" fmla="val 8000"/>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4846320"/>
            <a:ext cx="45720" cy="12801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937760"/>
            <a:ext cx="5577840" cy="201168"/>
          </a:xfrm>
          <a:prstGeom prst="rect">
            <a:avLst/>
          </a:prstGeom>
          <a:noFill/>
        </p:spPr>
        <p:txBody>
          <a:bodyPr wrap="square" lIns="0" rIns="0" tIns="0" bIns="0">
            <a:spAutoFit/>
          </a:bodyPr>
          <a:lstStyle/>
          <a:p>
            <a:pPr algn="l"/>
            <a:r>
              <a:rPr sz="950" b="1" i="0">
                <a:solidFill>
                  <a:srgbClr val="B45309"/>
                </a:solidFill>
                <a:latin typeface="Segoe UI"/>
              </a:rPr>
              <a:t>OUR COMMITMENT TO TRAVELERS AND HOSTS:</a:t>
            </a:r>
          </a:p>
        </p:txBody>
      </p:sp>
      <p:sp>
        <p:nvSpPr>
          <p:cNvPr id="39" name="TextBox 38"/>
          <p:cNvSpPr txBox="1"/>
          <p:nvPr/>
        </p:nvSpPr>
        <p:spPr>
          <a:xfrm>
            <a:off x="777240" y="5166360"/>
            <a:ext cx="5577840" cy="868680"/>
          </a:xfrm>
          <a:prstGeom prst="rect">
            <a:avLst/>
          </a:prstGeom>
          <a:noFill/>
        </p:spPr>
        <p:txBody>
          <a:bodyPr wrap="square" lIns="0" rIns="0" tIns="0" bIns="0">
            <a:spAutoFit/>
          </a:bodyPr>
          <a:lstStyle/>
          <a:p>
            <a:pPr algn="l"/>
            <a:r>
              <a:rPr sz="880" b="0" i="0">
                <a:solidFill>
                  <a:srgbClr val="0F172A"/>
                </a:solidFill>
                <a:latin typeface="Segoe UI"/>
              </a:rPr>
              <a:t>✓ Proven Execution: Working card-to-MoMo escrow &amp; Gemini 1.5 Cultural AI live today.
✓ 90-Day Commercial Scale: 1,000 paid tours ($50k GMV) during Detty December 2026.
✓ Statutory Compliance: 1% Tourism Development Levy held &amp; remitted for national heritage.
✓ Grassroots Impact: 90% direct payout transforming 150+ unbanked artisans into banked earners.</a:t>
            </a:r>
          </a:p>
        </p:txBody>
      </p:sp>
      <p:sp>
        <p:nvSpPr>
          <p:cNvPr id="40" name="Rounded Rectangle 39"/>
          <p:cNvSpPr/>
          <p:nvPr/>
        </p:nvSpPr>
        <p:spPr>
          <a:xfrm>
            <a:off x="6537960" y="4937760"/>
            <a:ext cx="4937760" cy="1097280"/>
          </a:xfrm>
          <a:prstGeom prst="roundRect">
            <a:avLst>
              <a:gd name="adj" fmla="val 6000"/>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0" y="4992624"/>
            <a:ext cx="4663440" cy="182880"/>
          </a:xfrm>
          <a:prstGeom prst="rect">
            <a:avLst/>
          </a:prstGeom>
          <a:noFill/>
        </p:spPr>
        <p:txBody>
          <a:bodyPr wrap="square" lIns="0" rIns="0" tIns="0" bIns="0">
            <a:spAutoFit/>
          </a:bodyPr>
          <a:lstStyle/>
          <a:p>
            <a:pPr algn="l"/>
            <a:r>
              <a:rPr sz="900" b="1" i="0">
                <a:solidFill>
                  <a:srgbClr val="B45309"/>
                </a:solidFill>
                <a:latin typeface="Segoe UI"/>
              </a:rPr>
              <a:t>🤝 HELP US SCALE TRUSTED CULTURAL TRAVEL:</a:t>
            </a:r>
          </a:p>
        </p:txBody>
      </p:sp>
      <p:sp>
        <p:nvSpPr>
          <p:cNvPr id="42" name="TextBox 41"/>
          <p:cNvSpPr txBox="1"/>
          <p:nvPr/>
        </p:nvSpPr>
        <p:spPr>
          <a:xfrm>
            <a:off x="6675120" y="5193792"/>
            <a:ext cx="4663440" cy="219456"/>
          </a:xfrm>
          <a:prstGeom prst="rect">
            <a:avLst/>
          </a:prstGeom>
          <a:noFill/>
        </p:spPr>
        <p:txBody>
          <a:bodyPr wrap="square" lIns="0" rIns="0" tIns="0" bIns="0">
            <a:spAutoFit/>
          </a:bodyPr>
          <a:lstStyle/>
          <a:p>
            <a:pPr algn="l"/>
            <a:r>
              <a:rPr sz="1050" b="1" i="0">
                <a:solidFill>
                  <a:srgbClr val="0F172A"/>
                </a:solidFill>
                <a:latin typeface="Segoe UI"/>
              </a:rPr>
              <a:t>Caleb Botchway  ·  Founder &amp; Lead Architect</a:t>
            </a:r>
          </a:p>
        </p:txBody>
      </p:sp>
      <p:sp>
        <p:nvSpPr>
          <p:cNvPr id="43" name="TextBox 42"/>
          <p:cNvSpPr txBox="1"/>
          <p:nvPr/>
        </p:nvSpPr>
        <p:spPr>
          <a:xfrm>
            <a:off x="6675120" y="5413248"/>
            <a:ext cx="4663440" cy="182880"/>
          </a:xfrm>
          <a:prstGeom prst="rect">
            <a:avLst/>
          </a:prstGeom>
          <a:noFill/>
        </p:spPr>
        <p:txBody>
          <a:bodyPr wrap="square" lIns="0" rIns="0" tIns="0" bIns="0">
            <a:spAutoFit/>
          </a:bodyPr>
          <a:lstStyle/>
          <a:p>
            <a:pPr algn="l"/>
            <a:r>
              <a:rPr sz="850" b="0" i="0">
                <a:solidFill>
                  <a:srgbClr val="64748B"/>
                </a:solidFill>
                <a:latin typeface="Segoe UI"/>
              </a:rPr>
              <a:t>cbotch5000@gmail.com  ·  caleb@kwan.ai  ·  +233 24 111 2233</a:t>
            </a:r>
          </a:p>
        </p:txBody>
      </p:sp>
      <p:sp>
        <p:nvSpPr>
          <p:cNvPr id="44" name="TextBox 43"/>
          <p:cNvSpPr txBox="1"/>
          <p:nvPr/>
        </p:nvSpPr>
        <p:spPr>
          <a:xfrm>
            <a:off x="6675120" y="5614416"/>
            <a:ext cx="4663440" cy="201168"/>
          </a:xfrm>
          <a:prstGeom prst="rect">
            <a:avLst/>
          </a:prstGeom>
          <a:noFill/>
        </p:spPr>
        <p:txBody>
          <a:bodyPr wrap="square" lIns="0" rIns="0" tIns="0" bIns="0">
            <a:spAutoFit/>
          </a:bodyPr>
          <a:lstStyle/>
          <a:p>
            <a:pPr algn="l"/>
            <a:r>
              <a:rPr sz="850" b="1" i="0">
                <a:solidFill>
                  <a:srgbClr val="047857"/>
                </a:solidFill>
                <a:latin typeface="Segoe UI"/>
              </a:rPr>
              <a:t>👉 VISIT KWAN: Describe an experience and meet one trusted local host.</a:t>
            </a:r>
          </a:p>
        </p:txBody>
      </p:sp>
      <p:sp>
        <p:nvSpPr>
          <p:cNvPr id="45" name="Rounded Rectangle 44"/>
          <p:cNvSpPr/>
          <p:nvPr/>
        </p:nvSpPr>
        <p:spPr>
          <a:xfrm>
            <a:off x="548640" y="6217920"/>
            <a:ext cx="11091672" cy="420624"/>
          </a:xfrm>
          <a:prstGeom prst="roundRect">
            <a:avLst>
              <a:gd name="adj" fmla="val 1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58368" y="6309359"/>
            <a:ext cx="36576" cy="23774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6300216"/>
            <a:ext cx="10762488" cy="256032"/>
          </a:xfrm>
          <a:prstGeom prst="rect">
            <a:avLst/>
          </a:prstGeom>
          <a:noFill/>
        </p:spPr>
        <p:txBody>
          <a:bodyPr wrap="square" lIns="0" rIns="0" tIns="0" bIns="0">
            <a:spAutoFit/>
          </a:bodyPr>
          <a:lstStyle/>
          <a:p>
            <a:pPr algn="l"/>
            <a:r>
              <a:rPr sz="1050" b="1" i="0">
                <a:solidFill>
                  <a:srgbClr val="F5A623"/>
                </a:solidFill>
                <a:latin typeface="Segoe UI"/>
              </a:rPr>
              <a:t>🤝 HELP KWAN SCALE TRUSTED CULTURAL TRAVEL WITH PARTNERS, HOSTS, AND EARLY CUSTOMERS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